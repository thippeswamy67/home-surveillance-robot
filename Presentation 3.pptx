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67" r:id="rId2"/>
    <p:sldId id="268" r:id="rId3"/>
    <p:sldId id="269" r:id="rId4"/>
    <p:sldId id="270" r:id="rId5"/>
    <p:sldId id="271" r:id="rId6"/>
    <p:sldId id="272" r:id="rId7"/>
    <p:sldId id="275" r:id="rId8"/>
    <p:sldId id="277" r:id="rId9"/>
    <p:sldId id="278" r:id="rId10"/>
    <p:sldId id="279" r:id="rId11"/>
    <p:sldId id="281" r:id="rId12"/>
    <p:sldId id="280" r:id="rId13"/>
    <p:sldId id="256" r:id="rId14"/>
    <p:sldId id="258" r:id="rId15"/>
    <p:sldId id="259" r:id="rId16"/>
    <p:sldId id="260" r:id="rId17"/>
    <p:sldId id="261" r:id="rId18"/>
    <p:sldId id="263" r:id="rId19"/>
    <p:sldId id="262" r:id="rId20"/>
    <p:sldId id="264" r:id="rId21"/>
    <p:sldId id="265" r:id="rId22"/>
    <p:sldId id="282" r:id="rId23"/>
    <p:sldId id="283" r:id="rId24"/>
    <p:sldId id="28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918971705988" initials="9" lastIdx="1" clrIdx="0">
    <p:extLst>
      <p:ext uri="{19B8F6BF-5375-455C-9EA6-DF929625EA0E}">
        <p15:presenceInfo xmlns:p15="http://schemas.microsoft.com/office/powerpoint/2012/main" xmlns="" userId="2e8de531b1aa10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A93F20-72B7-2F48-9B02-4C803578DAFD}" type="datetimeFigureOut">
              <a:rPr lang="en-US" smtClean="0"/>
              <a:pPr/>
              <a:t>6/23/2023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4DB19-0E8D-B24B-9746-30053A602738}" type="slidenum">
              <a:rPr lang="en-US" smtClean="0"/>
              <a:pPr/>
              <a:t>‹#›</a:t>
            </a:fld>
            <a:endParaRPr lang="en-US"/>
          </a:p>
        </p:txBody>
      </p:sp>
    </p:spTree>
    <p:extLst>
      <p:ext uri="{BB962C8B-B14F-4D97-AF65-F5344CB8AC3E}">
        <p14:creationId xmlns:p14="http://schemas.microsoft.com/office/powerpoint/2010/main" xmlns="" val="1159349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5"/>
          </p:nvPr>
        </p:nvSpPr>
        <p:spPr/>
        <p:txBody>
          <a:bodyPr/>
          <a:lstStyle/>
          <a:p>
            <a:fld id="{8BE4DB19-0E8D-B24B-9746-30053A602738}" type="slidenum">
              <a:rPr lang="en-US" smtClean="0"/>
              <a:pPr/>
              <a:t>13</a:t>
            </a:fld>
            <a:endParaRPr lang="en-US"/>
          </a:p>
        </p:txBody>
      </p:sp>
    </p:spTree>
    <p:extLst>
      <p:ext uri="{BB962C8B-B14F-4D97-AF65-F5344CB8AC3E}">
        <p14:creationId xmlns:p14="http://schemas.microsoft.com/office/powerpoint/2010/main" xmlns="" val="24564590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6/23/2023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WhatsApp Image 2023-06-21 at 11.33.28 AM.jpeg"/>
          <p:cNvPicPr>
            <a:picLocks noChangeAspect="1"/>
          </p:cNvPicPr>
          <p:nvPr/>
        </p:nvPicPr>
        <p:blipFill>
          <a:blip r:embed="rId2"/>
          <a:stretch>
            <a:fillRect/>
          </a:stretch>
        </p:blipFill>
        <p:spPr>
          <a:xfrm>
            <a:off x="0" y="1"/>
            <a:ext cx="12192000" cy="6858000"/>
          </a:xfrm>
          <a:prstGeom prst="rect">
            <a:avLst/>
          </a:prstGeom>
        </p:spPr>
      </p:pic>
      <p:sp>
        <p:nvSpPr>
          <p:cNvPr id="7" name="Rectangle 6"/>
          <p:cNvSpPr/>
          <p:nvPr/>
        </p:nvSpPr>
        <p:spPr>
          <a:xfrm>
            <a:off x="6667504" y="2571744"/>
            <a:ext cx="4714908" cy="1785950"/>
          </a:xfrm>
          <a:prstGeom prst="rect">
            <a:avLst/>
          </a:prstGeom>
          <a:solidFill>
            <a:schemeClr val="tx1">
              <a:lumMod val="85000"/>
            </a:schemeClr>
          </a:solidFill>
          <a:ln>
            <a:noFill/>
            <a:prstDash val="sysDash"/>
          </a:ln>
        </p:spPr>
        <p:style>
          <a:lnRef idx="1">
            <a:schemeClr val="dk1"/>
          </a:lnRef>
          <a:fillRef idx="2">
            <a:schemeClr val="dk1"/>
          </a:fillRef>
          <a:effectRef idx="1">
            <a:schemeClr val="dk1"/>
          </a:effectRef>
          <a:fontRef idx="minor">
            <a:schemeClr val="dk1"/>
          </a:fontRef>
        </p:style>
        <p:txBody>
          <a:bodyPr rtlCol="0"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HOME SURVEILLANCE ROBOT </a:t>
            </a:r>
            <a:endParaRPr lang="en-US" sz="4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3-06-22 at 10.00.25 AM.jpeg"/>
          <p:cNvPicPr>
            <a:picLocks noChangeAspect="1"/>
          </p:cNvPicPr>
          <p:nvPr/>
        </p:nvPicPr>
        <p:blipFill>
          <a:blip r:embed="rId2"/>
          <a:stretch>
            <a:fillRect/>
          </a:stretch>
        </p:blipFill>
        <p:spPr>
          <a:xfrm>
            <a:off x="0" y="-177249"/>
            <a:ext cx="12382544" cy="7035249"/>
          </a:xfrm>
          <a:prstGeom prst="rect">
            <a:avLst/>
          </a:prstGeom>
          <a:ln>
            <a:noFill/>
          </a:ln>
          <a:effectLst>
            <a:softEdge rad="112500"/>
          </a:effectLst>
        </p:spPr>
      </p:pic>
      <p:sp>
        <p:nvSpPr>
          <p:cNvPr id="4" name="Rectangular Callout 3"/>
          <p:cNvSpPr/>
          <p:nvPr/>
        </p:nvSpPr>
        <p:spPr>
          <a:xfrm>
            <a:off x="738150" y="2071678"/>
            <a:ext cx="4786346" cy="3000396"/>
          </a:xfrm>
          <a:prstGeom prst="wedgeRectCallout">
            <a:avLst/>
          </a:prstGeom>
          <a:solidFill>
            <a:srgbClr val="2791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dirty="0" smtClean="0">
                <a:solidFill>
                  <a:srgbClr val="FFC000"/>
                </a:solidFill>
              </a:rPr>
              <a:t>CAPSTONE PROJECT MEMBERS</a:t>
            </a:r>
          </a:p>
          <a:p>
            <a:pPr algn="ctr"/>
            <a:endParaRPr lang="en-US" dirty="0" smtClean="0"/>
          </a:p>
          <a:p>
            <a:pPr lvl="2">
              <a:buClr>
                <a:srgbClr val="FFFF99"/>
              </a:buClr>
              <a:buSzPct val="114000"/>
              <a:buFont typeface="Wingdings" pitchFamily="2" charset="2"/>
              <a:buChar char="v"/>
            </a:pPr>
            <a:r>
              <a:rPr lang="en-US" dirty="0" smtClean="0"/>
              <a:t>THIPPESWAMY N</a:t>
            </a:r>
          </a:p>
          <a:p>
            <a:pPr lvl="2">
              <a:buClr>
                <a:srgbClr val="FFFF99"/>
              </a:buClr>
              <a:buSzPct val="114000"/>
              <a:buFont typeface="Wingdings" pitchFamily="2" charset="2"/>
              <a:buChar char="v"/>
            </a:pPr>
            <a:r>
              <a:rPr lang="en-US" dirty="0" smtClean="0"/>
              <a:t>UMESHA P</a:t>
            </a:r>
          </a:p>
          <a:p>
            <a:pPr lvl="2">
              <a:buClr>
                <a:srgbClr val="FFFF99"/>
              </a:buClr>
              <a:buSzPct val="114000"/>
              <a:buFont typeface="Wingdings" pitchFamily="2" charset="2"/>
              <a:buChar char="v"/>
            </a:pPr>
            <a:r>
              <a:rPr lang="en-US" dirty="0" smtClean="0"/>
              <a:t>APOORVA RT</a:t>
            </a:r>
          </a:p>
          <a:p>
            <a:pPr lvl="2">
              <a:buClr>
                <a:srgbClr val="FFFF99"/>
              </a:buClr>
              <a:buSzPct val="114000"/>
              <a:buFont typeface="Wingdings" pitchFamily="2" charset="2"/>
              <a:buChar char="v"/>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38150" y="357166"/>
            <a:ext cx="4248141" cy="939784"/>
          </a:xfrm>
        </p:spPr>
        <p:txBody>
          <a:bodyPr/>
          <a:lstStyle/>
          <a:p>
            <a:r>
              <a:rPr lang="en-US" i="1" dirty="0" smtClean="0"/>
              <a:t>CONTENTS</a:t>
            </a:r>
            <a:endParaRPr lang="en-US" i="1" dirty="0"/>
          </a:p>
        </p:txBody>
      </p:sp>
      <p:sp>
        <p:nvSpPr>
          <p:cNvPr id="4" name="Rectangle 3"/>
          <p:cNvSpPr/>
          <p:nvPr/>
        </p:nvSpPr>
        <p:spPr>
          <a:xfrm>
            <a:off x="904838" y="1571612"/>
            <a:ext cx="5762666" cy="4643470"/>
          </a:xfrm>
          <a:prstGeom prst="rect">
            <a:avLst/>
          </a:prstGeom>
          <a:ln>
            <a:noFill/>
          </a:ln>
        </p:spPr>
        <p:style>
          <a:lnRef idx="2">
            <a:schemeClr val="accent6"/>
          </a:lnRef>
          <a:fillRef idx="1003">
            <a:schemeClr val="dk2"/>
          </a:fillRef>
          <a:effectRef idx="0">
            <a:schemeClr val="accent6"/>
          </a:effectRef>
          <a:fontRef idx="minor">
            <a:schemeClr val="dk1"/>
          </a:fontRef>
        </p:style>
        <p:txBody>
          <a:bodyPr rtlCol="0" anchor="ctr"/>
          <a:lstStyle/>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ABSTRACTS</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INTRODUCTION</a:t>
            </a:r>
            <a:endPar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PROBLEM STATEMENT</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LITRATURE </a:t>
            </a: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REVIEW</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BLOCK DIAGRAM</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METHODOLOGY</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HARDWARE AND SOFTWARE</a:t>
            </a:r>
            <a:r>
              <a:rPr lang="en-US" sz="24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 </a:t>
            </a: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REQUIRED</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HARDWARE DISCRIPTION</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APPLICATIONS</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ADVANTAGES</a:t>
            </a:r>
          </a:p>
          <a:p>
            <a:pPr>
              <a:buFont typeface="Wingdings" pitchFamily="2" charset="2"/>
              <a:buChar char="v"/>
            </a:pPr>
            <a:r>
              <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RESULT AND CONCLUTION</a:t>
            </a:r>
          </a:p>
          <a:p>
            <a:pPr algn="ctr"/>
            <a:endPar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a:p>
            <a:pPr algn="ctr"/>
            <a:endParaRPr lang="en-US" sz="2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2464" y="500042"/>
            <a:ext cx="5786478" cy="571504"/>
          </a:xfrm>
          <a:prstGeom prst="rect">
            <a:avLst/>
          </a:prstGeom>
          <a:ln>
            <a:noFill/>
          </a:ln>
        </p:spPr>
        <p:style>
          <a:lnRef idx="2">
            <a:schemeClr val="accent6"/>
          </a:lnRef>
          <a:fillRef idx="1003">
            <a:schemeClr val="dk2"/>
          </a:fillRef>
          <a:effectRef idx="0">
            <a:schemeClr val="accent6"/>
          </a:effectRef>
          <a:fontRef idx="minor">
            <a:schemeClr val="dk1"/>
          </a:fontRef>
        </p:style>
        <p:txBody>
          <a:bodyPr rtlCol="0" anchor="ctr"/>
          <a:lstStyle/>
          <a:p>
            <a:pPr algn="ctr"/>
            <a:r>
              <a:rPr lang="en-US" sz="4000" b="1" i="1" dirty="0" smtClean="0">
                <a:solidFill>
                  <a:srgbClr val="00B050"/>
                </a:solidFill>
              </a:rPr>
              <a:t>ABSTRACT</a:t>
            </a:r>
            <a:endParaRPr lang="en-US" sz="4000" b="1" i="1" dirty="0">
              <a:solidFill>
                <a:srgbClr val="00B050"/>
              </a:solidFill>
            </a:endParaRPr>
          </a:p>
        </p:txBody>
      </p:sp>
      <p:sp>
        <p:nvSpPr>
          <p:cNvPr id="6" name="TextBox 5"/>
          <p:cNvSpPr txBox="1"/>
          <p:nvPr/>
        </p:nvSpPr>
        <p:spPr>
          <a:xfrm>
            <a:off x="1333466" y="1357298"/>
            <a:ext cx="9810819" cy="4431983"/>
          </a:xfrm>
          <a:prstGeom prst="rect">
            <a:avLst/>
          </a:prstGeom>
          <a:noFill/>
        </p:spPr>
        <p:txBody>
          <a:bodyPr wrap="square" rtlCol="0">
            <a:spAutoFit/>
          </a:bodyPr>
          <a:lstStyle/>
          <a:p>
            <a:pPr>
              <a:buFont typeface="Wingdings" pitchFamily="2" charset="2"/>
              <a:buChar char="Ø"/>
            </a:pPr>
            <a:r>
              <a:rPr lang="en-US" sz="2200" dirty="0">
                <a:solidFill>
                  <a:schemeClr val="accent3"/>
                </a:solidFill>
              </a:rPr>
              <a:t>The main goal behind this project is to create a robot that will perform indoor surveillance</a:t>
            </a:r>
            <a:r>
              <a:rPr lang="en-US" sz="2200" dirty="0" smtClean="0">
                <a:solidFill>
                  <a:schemeClr val="accent3"/>
                </a:solidFill>
              </a:rPr>
              <a:t>.</a:t>
            </a:r>
          </a:p>
          <a:p>
            <a:endParaRPr lang="en-US" sz="2200" dirty="0" smtClean="0">
              <a:solidFill>
                <a:schemeClr val="accent3"/>
              </a:solidFill>
            </a:endParaRPr>
          </a:p>
          <a:p>
            <a:pPr>
              <a:buFont typeface="Wingdings" pitchFamily="2" charset="2"/>
              <a:buChar char="Ø"/>
            </a:pPr>
            <a:r>
              <a:rPr lang="en-US" sz="2200" dirty="0" smtClean="0">
                <a:solidFill>
                  <a:schemeClr val="accent3"/>
                </a:solidFill>
              </a:rPr>
              <a:t>Today</a:t>
            </a:r>
            <a:r>
              <a:rPr lang="en-US" sz="2200" dirty="0">
                <a:solidFill>
                  <a:schemeClr val="accent3"/>
                </a:solidFill>
              </a:rPr>
              <a:t>, </a:t>
            </a:r>
            <a:r>
              <a:rPr lang="en-US" sz="2200" dirty="0" smtClean="0">
                <a:solidFill>
                  <a:schemeClr val="accent3"/>
                </a:solidFill>
              </a:rPr>
              <a:t>robots play </a:t>
            </a:r>
            <a:r>
              <a:rPr lang="en-US" sz="2200" dirty="0">
                <a:solidFill>
                  <a:schemeClr val="accent3"/>
                </a:solidFill>
              </a:rPr>
              <a:t>an important role in our daily life, reducing </a:t>
            </a:r>
            <a:r>
              <a:rPr lang="en-US" sz="2200" dirty="0" smtClean="0">
                <a:solidFill>
                  <a:schemeClr val="accent3"/>
                </a:solidFill>
              </a:rPr>
              <a:t>manual labour </a:t>
            </a:r>
            <a:r>
              <a:rPr lang="en-US" sz="2200" dirty="0">
                <a:solidFill>
                  <a:schemeClr val="accent3"/>
                </a:solidFill>
              </a:rPr>
              <a:t>and human error. </a:t>
            </a:r>
            <a:endParaRPr lang="en-US" sz="2200" dirty="0" smtClean="0">
              <a:solidFill>
                <a:schemeClr val="accent3"/>
              </a:solidFill>
            </a:endParaRPr>
          </a:p>
          <a:p>
            <a:endParaRPr lang="en-US" sz="2200" dirty="0" smtClean="0">
              <a:solidFill>
                <a:schemeClr val="accent3"/>
              </a:solidFill>
            </a:endParaRPr>
          </a:p>
          <a:p>
            <a:pPr>
              <a:buFont typeface="Wingdings" pitchFamily="2" charset="2"/>
              <a:buChar char="Ø"/>
            </a:pPr>
            <a:r>
              <a:rPr lang="en-US" sz="2200" dirty="0" smtClean="0">
                <a:solidFill>
                  <a:schemeClr val="accent3"/>
                </a:solidFill>
              </a:rPr>
              <a:t>The purpose of the robot is to walk around, collect audio and visual information </a:t>
            </a:r>
            <a:r>
              <a:rPr lang="en-US" sz="2200" dirty="0">
                <a:solidFill>
                  <a:schemeClr val="accent3"/>
                </a:solidFill>
              </a:rPr>
              <a:t>from the environment and transmit </a:t>
            </a:r>
            <a:r>
              <a:rPr lang="en-US" sz="2200" dirty="0" smtClean="0">
                <a:solidFill>
                  <a:schemeClr val="accent3"/>
                </a:solidFill>
              </a:rPr>
              <a:t>the received </a:t>
            </a:r>
            <a:r>
              <a:rPr lang="en-US" sz="2200" dirty="0">
                <a:solidFill>
                  <a:schemeClr val="accent3"/>
                </a:solidFill>
              </a:rPr>
              <a:t>information to the user. </a:t>
            </a:r>
            <a:endParaRPr lang="en-US" sz="2200" dirty="0" smtClean="0">
              <a:solidFill>
                <a:schemeClr val="accent3"/>
              </a:solidFill>
            </a:endParaRPr>
          </a:p>
          <a:p>
            <a:pPr>
              <a:buFont typeface="Wingdings" pitchFamily="2" charset="2"/>
              <a:buChar char="Ø"/>
            </a:pPr>
            <a:endParaRPr lang="en-US" sz="2200" dirty="0" smtClean="0">
              <a:solidFill>
                <a:schemeClr val="accent3"/>
              </a:solidFill>
            </a:endParaRPr>
          </a:p>
          <a:p>
            <a:pPr>
              <a:buFont typeface="Wingdings" pitchFamily="2" charset="2"/>
              <a:buChar char="Ø"/>
            </a:pPr>
            <a:r>
              <a:rPr lang="en-US" sz="2200" dirty="0" smtClean="0">
                <a:solidFill>
                  <a:schemeClr val="accent3"/>
                </a:solidFill>
              </a:rPr>
              <a:t>In </a:t>
            </a:r>
            <a:r>
              <a:rPr lang="en-US" sz="2200" dirty="0">
                <a:solidFill>
                  <a:schemeClr val="accent3"/>
                </a:solidFill>
              </a:rPr>
              <a:t>this project, </a:t>
            </a:r>
            <a:r>
              <a:rPr lang="en-US" sz="2200" dirty="0" smtClean="0">
                <a:solidFill>
                  <a:schemeClr val="accent3"/>
                </a:solidFill>
              </a:rPr>
              <a:t>people can </a:t>
            </a:r>
            <a:r>
              <a:rPr lang="en-US" sz="2200" dirty="0">
                <a:solidFill>
                  <a:schemeClr val="accent3"/>
                </a:solidFill>
              </a:rPr>
              <a:t>control the robot via Internet of Things (</a:t>
            </a:r>
            <a:r>
              <a:rPr lang="en-US" sz="2200" dirty="0" smtClean="0">
                <a:solidFill>
                  <a:schemeClr val="accent3"/>
                </a:solidFill>
              </a:rPr>
              <a:t>IoT</a:t>
            </a:r>
            <a:r>
              <a:rPr lang="en-US" sz="2200" dirty="0">
                <a:solidFill>
                  <a:schemeClr val="accent3"/>
                </a:solidFill>
              </a:rPr>
              <a:t>) with the help of mobile devices or laptops and use </a:t>
            </a:r>
            <a:r>
              <a:rPr lang="en-US" sz="2200" dirty="0" smtClean="0">
                <a:solidFill>
                  <a:schemeClr val="accent3"/>
                </a:solidFill>
              </a:rPr>
              <a:t>a wireless camera for the robot to receive </a:t>
            </a:r>
            <a:r>
              <a:rPr lang="en-US" sz="2200" dirty="0">
                <a:solidFill>
                  <a:schemeClr val="accent3"/>
                </a:solidFill>
              </a:rPr>
              <a:t>Streaming video </a:t>
            </a:r>
            <a:r>
              <a:rPr lang="en-US" sz="2200" dirty="0" smtClean="0">
                <a:solidFill>
                  <a:schemeClr val="accent3"/>
                </a:solidFill>
              </a:rPr>
              <a:t>day and </a:t>
            </a:r>
            <a:r>
              <a:rPr lang="en-US" sz="2200" dirty="0">
                <a:solidFill>
                  <a:schemeClr val="accent3"/>
                </a:solidFill>
              </a:rPr>
              <a:t>night.</a:t>
            </a:r>
          </a:p>
          <a:p>
            <a:pPr>
              <a:buFont typeface="Wingdings" pitchFamily="2" charset="2"/>
              <a:buChar char="Ø"/>
            </a:pPr>
            <a:endParaRPr lang="en-US" dirty="0">
              <a:solidFill>
                <a:schemeClr val="accent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57213" y="642918"/>
            <a:ext cx="11144328" cy="5539978"/>
          </a:xfrm>
          <a:prstGeom prst="rect">
            <a:avLst/>
          </a:prstGeom>
        </p:spPr>
        <p:txBody>
          <a:bodyPr wrap="square">
            <a:spAutoFit/>
          </a:bodyPr>
          <a:lstStyle/>
          <a:p>
            <a:endParaRPr lang="en-US" sz="2800" dirty="0" smtClean="0">
              <a:solidFill>
                <a:srgbClr val="00B050"/>
              </a:solidFill>
            </a:endParaRPr>
          </a:p>
          <a:p>
            <a:r>
              <a:rPr lang="en-US" sz="2800" dirty="0" smtClean="0">
                <a:solidFill>
                  <a:srgbClr val="0070C0"/>
                </a:solidFill>
              </a:rPr>
              <a:t>                   I</a:t>
            </a:r>
            <a:r>
              <a:rPr lang="en-US" sz="2800" b="1" dirty="0" smtClean="0">
                <a:solidFill>
                  <a:srgbClr val="0070C0"/>
                </a:solidFill>
              </a:rPr>
              <a:t>NTRODUCTION</a:t>
            </a:r>
          </a:p>
          <a:p>
            <a:pPr>
              <a:buClr>
                <a:schemeClr val="accent3"/>
              </a:buClr>
              <a:buFont typeface="Wingdings" pitchFamily="2" charset="2"/>
              <a:buChar char="v"/>
            </a:pPr>
            <a:r>
              <a:rPr lang="en-US" b="1" i="1" dirty="0" smtClean="0">
                <a:solidFill>
                  <a:schemeClr val="tx1">
                    <a:lumMod val="75000"/>
                    <a:lumOff val="25000"/>
                  </a:schemeClr>
                </a:solidFill>
              </a:rPr>
              <a:t> </a:t>
            </a:r>
            <a:r>
              <a:rPr lang="en-US" sz="2000" dirty="0" smtClean="0">
                <a:solidFill>
                  <a:srgbClr val="92D050"/>
                </a:solidFill>
              </a:rPr>
              <a:t>Surveillance robot is the robot used for the surveillance purpose.</a:t>
            </a:r>
          </a:p>
          <a:p>
            <a:endParaRPr lang="en-US" sz="2000" dirty="0" smtClean="0">
              <a:solidFill>
                <a:srgbClr val="92D050"/>
              </a:solidFill>
            </a:endParaRPr>
          </a:p>
          <a:p>
            <a:pPr>
              <a:buClr>
                <a:schemeClr val="accent3"/>
              </a:buClr>
              <a:buFont typeface="Wingdings" pitchFamily="2" charset="2"/>
              <a:buChar char="v"/>
            </a:pPr>
            <a:r>
              <a:rPr lang="en-US" sz="2000" dirty="0" smtClean="0">
                <a:solidFill>
                  <a:srgbClr val="92D050"/>
                </a:solidFill>
              </a:rPr>
              <a:t>This project describes a new financial system for robotic systems.</a:t>
            </a:r>
          </a:p>
          <a:p>
            <a:pPr>
              <a:buClr>
                <a:schemeClr val="accent3"/>
              </a:buClr>
            </a:pPr>
            <a:r>
              <a:rPr lang="en-US" sz="2000" dirty="0" smtClean="0">
                <a:solidFill>
                  <a:srgbClr val="92D050"/>
                </a:solidFill>
              </a:rPr>
              <a:t> </a:t>
            </a:r>
          </a:p>
          <a:p>
            <a:pPr>
              <a:buClr>
                <a:schemeClr val="accent3"/>
              </a:buClr>
              <a:buFont typeface="Wingdings" pitchFamily="2" charset="2"/>
              <a:buChar char="v"/>
            </a:pPr>
            <a:r>
              <a:rPr lang="en-US" sz="2000" dirty="0" smtClean="0">
                <a:solidFill>
                  <a:srgbClr val="92D050"/>
                </a:solidFill>
              </a:rPr>
              <a:t>The robot is controlled by a wired network. Programming the robot takes time and needs to be reprogrammed in case of changes in the project. Therefore, they are not user friendly and work with user preferences.</a:t>
            </a:r>
          </a:p>
          <a:p>
            <a:pPr>
              <a:buClr>
                <a:schemeClr val="accent3"/>
              </a:buClr>
            </a:pPr>
            <a:endParaRPr lang="en-US" sz="2000" dirty="0" smtClean="0">
              <a:solidFill>
                <a:srgbClr val="92D050"/>
              </a:solidFill>
            </a:endParaRPr>
          </a:p>
          <a:p>
            <a:pPr>
              <a:buClr>
                <a:schemeClr val="accent3"/>
              </a:buClr>
              <a:buFont typeface="Wingdings" pitchFamily="2" charset="2"/>
              <a:buChar char="v"/>
            </a:pPr>
            <a:r>
              <a:rPr lang="en-US" sz="2000" dirty="0" smtClean="0">
                <a:solidFill>
                  <a:srgbClr val="92D050"/>
                </a:solidFill>
              </a:rPr>
              <a:t> It is designed to perform the tasks commanded by the user in order to make the robot user-friendly And to have a say in the control of the robot. To do this, modern technology must be used. </a:t>
            </a:r>
          </a:p>
          <a:p>
            <a:pPr>
              <a:buClr>
                <a:schemeClr val="accent3"/>
              </a:buClr>
              <a:buFont typeface="Wingdings" pitchFamily="2" charset="2"/>
              <a:buChar char="v"/>
            </a:pPr>
            <a:endParaRPr lang="en-US" sz="2000" dirty="0" smtClean="0">
              <a:solidFill>
                <a:srgbClr val="92D050"/>
              </a:solidFill>
            </a:endParaRPr>
          </a:p>
          <a:p>
            <a:pPr>
              <a:buClr>
                <a:schemeClr val="accent3"/>
              </a:buClr>
              <a:buFont typeface="Wingdings" pitchFamily="2" charset="2"/>
              <a:buChar char="v"/>
            </a:pPr>
            <a:r>
              <a:rPr lang="en-US" sz="2000" dirty="0" smtClean="0">
                <a:solidFill>
                  <a:srgbClr val="92D050"/>
                </a:solidFill>
              </a:rPr>
              <a:t>To use today's technology, every user must know how to use it. To achieve and meet all these needs, we use Android phone as a multimedia, user-friendly device to control the robot.</a:t>
            </a:r>
          </a:p>
          <a:p>
            <a:endParaRPr lang="en-US" sz="2000" dirty="0" smtClean="0">
              <a:solidFill>
                <a:srgbClr val="92D050"/>
              </a:solidFill>
            </a:endParaRPr>
          </a:p>
          <a:p>
            <a:endParaRPr lang="en-US" dirty="0" smtClean="0">
              <a:solidFill>
                <a:schemeClr val="tx1">
                  <a:lumMod val="75000"/>
                  <a:lumOff val="2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1026" y="500042"/>
            <a:ext cx="10644262" cy="5570756"/>
          </a:xfrm>
          <a:prstGeom prst="rect">
            <a:avLst/>
          </a:prstGeom>
        </p:spPr>
        <p:txBody>
          <a:bodyPr wrap="square">
            <a:spAutoFit/>
          </a:bodyPr>
          <a:lstStyle/>
          <a:p>
            <a:endParaRPr lang="en-US" sz="2800" dirty="0" smtClean="0">
              <a:solidFill>
                <a:srgbClr val="00B050"/>
              </a:solidFill>
            </a:endParaRPr>
          </a:p>
          <a:p>
            <a:r>
              <a:rPr lang="en-US" sz="2800" b="1" dirty="0" smtClean="0">
                <a:solidFill>
                  <a:srgbClr val="00B050"/>
                </a:solidFill>
              </a:rPr>
              <a:t>PROBLEM  STATEMENT</a:t>
            </a:r>
          </a:p>
          <a:p>
            <a:pPr>
              <a:buClr>
                <a:schemeClr val="accent3"/>
              </a:buClr>
            </a:pPr>
            <a:r>
              <a:rPr lang="en-US" dirty="0" smtClean="0"/>
              <a:t> </a:t>
            </a:r>
            <a:endParaRPr lang="en-US" dirty="0" smtClean="0">
              <a:solidFill>
                <a:srgbClr val="FFFF00"/>
              </a:solidFill>
            </a:endParaRPr>
          </a:p>
          <a:p>
            <a:pPr>
              <a:buClr>
                <a:srgbClr val="FF0000"/>
              </a:buClr>
              <a:buSzPct val="150000"/>
              <a:buFont typeface="Wingdings" pitchFamily="2" charset="2"/>
              <a:buChar char="v"/>
            </a:pPr>
            <a:r>
              <a:rPr lang="en-US" sz="2200" dirty="0" smtClean="0">
                <a:solidFill>
                  <a:schemeClr val="tx1">
                    <a:lumMod val="65000"/>
                    <a:lumOff val="35000"/>
                  </a:schemeClr>
                </a:solidFill>
              </a:rPr>
              <a:t>All  electronic devices that we use today are based on embedded systems  technology, where the processors of such a system play a very important role.</a:t>
            </a:r>
          </a:p>
          <a:p>
            <a:endParaRPr lang="en-US" sz="2200" dirty="0" smtClean="0">
              <a:solidFill>
                <a:schemeClr val="tx1">
                  <a:lumMod val="65000"/>
                  <a:lumOff val="35000"/>
                </a:schemeClr>
              </a:solidFill>
            </a:endParaRPr>
          </a:p>
          <a:p>
            <a:pPr>
              <a:buClr>
                <a:schemeClr val="accent2"/>
              </a:buClr>
              <a:buSzPct val="150000"/>
              <a:buFont typeface="Wingdings" pitchFamily="2" charset="2"/>
              <a:buChar char="v"/>
            </a:pPr>
            <a:r>
              <a:rPr lang="en-US" sz="2200" dirty="0" smtClean="0">
                <a:solidFill>
                  <a:schemeClr val="tx1">
                    <a:lumMod val="65000"/>
                    <a:lumOff val="35000"/>
                  </a:schemeClr>
                </a:solidFill>
              </a:rPr>
              <a:t>Problem of the work can be stated as </a:t>
            </a:r>
            <a:r>
              <a:rPr lang="en-US" sz="2200" b="1" dirty="0" smtClean="0">
                <a:solidFill>
                  <a:schemeClr val="tx1">
                    <a:lumMod val="65000"/>
                    <a:lumOff val="35000"/>
                  </a:schemeClr>
                </a:solidFill>
              </a:rPr>
              <a:t>“ </a:t>
            </a:r>
            <a:r>
              <a:rPr lang="en-US" sz="2200" i="1" dirty="0" smtClean="0">
                <a:solidFill>
                  <a:schemeClr val="tx1">
                    <a:lumMod val="65000"/>
                    <a:lumOff val="35000"/>
                  </a:schemeClr>
                </a:solidFill>
              </a:rPr>
              <a:t>Designing the robot with sensory device, Wi-Fi controlling , programming the  systems to </a:t>
            </a:r>
            <a:r>
              <a:rPr lang="en-US" sz="2200" i="1" dirty="0" err="1" smtClean="0">
                <a:solidFill>
                  <a:schemeClr val="tx1">
                    <a:lumMod val="65000"/>
                    <a:lumOff val="35000"/>
                  </a:schemeClr>
                </a:solidFill>
              </a:rPr>
              <a:t>recognaize</a:t>
            </a:r>
            <a:r>
              <a:rPr lang="en-US" sz="2200" i="1" dirty="0" smtClean="0">
                <a:solidFill>
                  <a:schemeClr val="tx1">
                    <a:lumMod val="65000"/>
                    <a:lumOff val="35000"/>
                  </a:schemeClr>
                </a:solidFill>
              </a:rPr>
              <a:t> and to track the robot using GPS “. </a:t>
            </a:r>
          </a:p>
          <a:p>
            <a:pPr>
              <a:buClr>
                <a:schemeClr val="accent3"/>
              </a:buClr>
            </a:pPr>
            <a:r>
              <a:rPr lang="en-US" sz="2200" i="1" dirty="0" smtClean="0">
                <a:solidFill>
                  <a:schemeClr val="tx1">
                    <a:lumMod val="65000"/>
                    <a:lumOff val="35000"/>
                  </a:schemeClr>
                </a:solidFill>
              </a:rPr>
              <a:t> </a:t>
            </a:r>
          </a:p>
          <a:p>
            <a:pPr>
              <a:buClr>
                <a:schemeClr val="accent2"/>
              </a:buClr>
              <a:buSzPct val="152000"/>
              <a:buFont typeface="Wingdings" pitchFamily="2" charset="2"/>
              <a:buChar char="v"/>
            </a:pPr>
            <a:r>
              <a:rPr lang="en-US" sz="2200" dirty="0" smtClean="0">
                <a:solidFill>
                  <a:schemeClr val="tx1">
                    <a:lumMod val="65000"/>
                    <a:lumOff val="35000"/>
                  </a:schemeClr>
                </a:solidFill>
              </a:rPr>
              <a:t>The main aim is to design and implement Wi-Fi based controlling the robot, with front end wheels help it to take  left and right turns and rear end wheels to move forward and reverse. </a:t>
            </a:r>
          </a:p>
          <a:p>
            <a:pPr>
              <a:buClr>
                <a:schemeClr val="accent3"/>
              </a:buClr>
            </a:pPr>
            <a:r>
              <a:rPr lang="en-US" sz="2200" dirty="0" smtClean="0">
                <a:solidFill>
                  <a:schemeClr val="tx1">
                    <a:lumMod val="65000"/>
                    <a:lumOff val="35000"/>
                  </a:schemeClr>
                </a:solidFill>
              </a:rPr>
              <a:t>Creating a  data base of objects in the environment, by capturing images of the object. </a:t>
            </a:r>
          </a:p>
          <a:p>
            <a:pPr>
              <a:buClr>
                <a:schemeClr val="accent3"/>
              </a:buClr>
            </a:pPr>
            <a:r>
              <a:rPr lang="en-US" sz="2200" dirty="0" smtClean="0">
                <a:solidFill>
                  <a:schemeClr val="tx1">
                    <a:lumMod val="65000"/>
                    <a:lumOff val="35000"/>
                  </a:schemeClr>
                </a:solidFill>
              </a:rPr>
              <a:t>Person/object recognition using Neural Network and tracking the robot using GPS.</a:t>
            </a:r>
          </a:p>
          <a:p>
            <a:endParaRPr lang="en-US" sz="2200" dirty="0" smtClean="0">
              <a:solidFill>
                <a:schemeClr val="tx1">
                  <a:lumMod val="75000"/>
                  <a:lumOff val="25000"/>
                </a:schemeClr>
              </a:solidFill>
            </a:endParaRPr>
          </a:p>
          <a:p>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6713" y="357166"/>
            <a:ext cx="10215634" cy="7355860"/>
          </a:xfrm>
          <a:prstGeom prst="rect">
            <a:avLst/>
          </a:prstGeom>
        </p:spPr>
        <p:txBody>
          <a:bodyPr wrap="square">
            <a:spAutoFit/>
          </a:bodyPr>
          <a:lstStyle/>
          <a:p>
            <a:r>
              <a:rPr lang="en-US" sz="2800" b="1" dirty="0" smtClean="0">
                <a:solidFill>
                  <a:schemeClr val="tx1">
                    <a:lumMod val="65000"/>
                    <a:lumOff val="35000"/>
                  </a:schemeClr>
                </a:solidFill>
              </a:rPr>
              <a:t>LITERATURE REVIEW</a:t>
            </a:r>
          </a:p>
          <a:p>
            <a:pPr>
              <a:buClr>
                <a:schemeClr val="accent3"/>
              </a:buClr>
            </a:pPr>
            <a:r>
              <a:rPr lang="en-US" dirty="0" smtClean="0">
                <a:solidFill>
                  <a:schemeClr val="tx1">
                    <a:lumMod val="65000"/>
                    <a:lumOff val="35000"/>
                  </a:schemeClr>
                </a:solidFill>
              </a:rPr>
              <a:t> </a:t>
            </a:r>
          </a:p>
          <a:p>
            <a:pPr>
              <a:buClr>
                <a:srgbClr val="FF0000"/>
              </a:buClr>
              <a:buSzPct val="150000"/>
              <a:buFont typeface="Wingdings" pitchFamily="2" charset="2"/>
              <a:buChar char="v"/>
            </a:pPr>
            <a:r>
              <a:rPr lang="en-US" sz="2400" dirty="0" smtClean="0"/>
              <a:t>There are many documents in the literature on the design and implementation of wireless mobile robots and inspection robots, some of which are discussed below:</a:t>
            </a:r>
          </a:p>
          <a:p>
            <a:pPr>
              <a:buClr>
                <a:srgbClr val="FF0000"/>
              </a:buClr>
              <a:buSzPct val="150000"/>
              <a:buFont typeface="Wingdings" pitchFamily="2" charset="2"/>
              <a:buChar char="v"/>
            </a:pPr>
            <a:endParaRPr lang="en-US" sz="2400" dirty="0" smtClean="0">
              <a:solidFill>
                <a:schemeClr val="tx1">
                  <a:lumMod val="65000"/>
                  <a:lumOff val="35000"/>
                </a:schemeClr>
              </a:solidFill>
            </a:endParaRPr>
          </a:p>
          <a:p>
            <a:pPr>
              <a:buClr>
                <a:srgbClr val="FF0000"/>
              </a:buClr>
              <a:buSzPct val="150000"/>
              <a:buFont typeface="Wingdings" pitchFamily="2" charset="2"/>
              <a:buChar char="v"/>
            </a:pPr>
            <a:r>
              <a:rPr lang="en-US" sz="2400" dirty="0" smtClean="0"/>
              <a:t>Novandri et al. Get. The design and use of a self-defence robot guard against a nail gun is shown. Also, the robot can transmit audio and video files using the Wi-Fi protocol.</a:t>
            </a:r>
          </a:p>
          <a:p>
            <a:pPr>
              <a:buClr>
                <a:srgbClr val="FF0000"/>
              </a:buClr>
              <a:buSzPct val="150000"/>
              <a:buFont typeface="Wingdings" pitchFamily="2" charset="2"/>
              <a:buChar char="v"/>
            </a:pPr>
            <a:endParaRPr lang="en-US" sz="2400" dirty="0" smtClean="0"/>
          </a:p>
          <a:p>
            <a:pPr>
              <a:buClr>
                <a:srgbClr val="FF0000"/>
              </a:buClr>
              <a:buSzPct val="150000"/>
              <a:buFont typeface="Wingdings" pitchFamily="2" charset="2"/>
              <a:buChar char="v"/>
            </a:pPr>
            <a:r>
              <a:rPr lang="en-US" sz="2400" dirty="0" smtClean="0"/>
              <a:t>Surendra et al. Get. A video surveillance robot is designed for surveillance purposes. The robot can detect human movements. They found a low-cost four-wheeled clock robot using an Arduino microcontroller and ZigBee technology. This system is very good especially for monitoring in areas without internet.</a:t>
            </a:r>
          </a:p>
          <a:p>
            <a:pPr>
              <a:buClr>
                <a:srgbClr val="FF0000"/>
              </a:buClr>
              <a:buSzPct val="150000"/>
              <a:buFont typeface="Wingdings" pitchFamily="2" charset="2"/>
              <a:buChar char="v"/>
            </a:pPr>
            <a:endParaRPr lang="en-US" sz="2400" dirty="0" smtClean="0"/>
          </a:p>
          <a:p>
            <a:pPr>
              <a:buClr>
                <a:srgbClr val="FF0000"/>
              </a:buClr>
              <a:buSzPct val="150000"/>
            </a:pPr>
            <a:endParaRPr lang="en-US" sz="2400" dirty="0" smtClean="0"/>
          </a:p>
          <a:p>
            <a:pPr>
              <a:buClr>
                <a:srgbClr val="FF0000"/>
              </a:buClr>
              <a:buSzPct val="150000"/>
            </a:pPr>
            <a:endParaRPr lang="en-US" dirty="0" smtClean="0"/>
          </a:p>
          <a:p>
            <a:pPr>
              <a:buClr>
                <a:srgbClr val="FF0000"/>
              </a:buClr>
              <a:buSzPct val="150000"/>
            </a:pPr>
            <a:endParaRPr lang="en-US" b="1" dirty="0" smtClean="0">
              <a:solidFill>
                <a:schemeClr val="tx1">
                  <a:lumMod val="65000"/>
                  <a:lumOff val="35000"/>
                </a:schemeClr>
              </a:solidFill>
            </a:endParaRPr>
          </a:p>
          <a:p>
            <a:pPr>
              <a:buClr>
                <a:schemeClr val="accent3"/>
              </a:buClr>
            </a:pPr>
            <a:r>
              <a:rPr lang="en-US" b="1" dirty="0" smtClean="0">
                <a:solidFill>
                  <a:schemeClr val="tx1">
                    <a:lumMod val="65000"/>
                    <a:lumOff val="35000"/>
                  </a:schemeClr>
                </a:solidFill>
              </a:rPr>
              <a:t> </a:t>
            </a:r>
          </a:p>
          <a:p>
            <a:endParaRPr lang="en-US" dirty="0" smtClean="0">
              <a:solidFill>
                <a:schemeClr val="tx1">
                  <a:lumMod val="65000"/>
                  <a:lumOff val="35000"/>
                </a:schemeClr>
              </a:solidFill>
            </a:endParaRPr>
          </a:p>
          <a:p>
            <a:endParaRPr lang="en-US" dirty="0" smtClean="0">
              <a:solidFill>
                <a:schemeClr val="tx1">
                  <a:lumMod val="65000"/>
                  <a:lumOff val="3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0960" y="285728"/>
            <a:ext cx="11239579" cy="4524315"/>
          </a:xfrm>
          <a:prstGeom prst="rect">
            <a:avLst/>
          </a:prstGeom>
        </p:spPr>
        <p:txBody>
          <a:bodyPr wrap="square">
            <a:spAutoFit/>
          </a:bodyPr>
          <a:lstStyle/>
          <a:p>
            <a:endParaRPr lang="en-US" sz="2400" dirty="0" smtClean="0"/>
          </a:p>
          <a:p>
            <a:pPr>
              <a:buClr>
                <a:schemeClr val="accent2"/>
              </a:buClr>
              <a:buSzPct val="150000"/>
              <a:buFont typeface="Wingdings" pitchFamily="2" charset="2"/>
              <a:buChar char="v"/>
            </a:pPr>
            <a:r>
              <a:rPr lang="en-US" sz="2400" dirty="0" smtClean="0"/>
              <a:t> Pradeep et al. Get. The mobile robot is designed to detect pollution and send its value to the user by usingATMega2560 microcontroller, gas sensor, Wi-Fi and GSM modules.</a:t>
            </a:r>
          </a:p>
          <a:p>
            <a:endParaRPr lang="en-US" sz="2400" dirty="0" smtClean="0"/>
          </a:p>
          <a:p>
            <a:r>
              <a:rPr lang="en-US" sz="2400" b="1" u="heavy" dirty="0" smtClean="0"/>
              <a:t>Objective</a:t>
            </a:r>
            <a:endParaRPr lang="en-US" sz="2400" dirty="0" smtClean="0"/>
          </a:p>
          <a:p>
            <a:r>
              <a:rPr lang="en-US" sz="2400" b="1" dirty="0" smtClean="0"/>
              <a:t> </a:t>
            </a:r>
            <a:endParaRPr lang="en-US" sz="2400" dirty="0" smtClean="0"/>
          </a:p>
          <a:p>
            <a:pPr lvl="0"/>
            <a:r>
              <a:rPr lang="en-US" sz="2400" dirty="0" smtClean="0"/>
              <a:t>To investigate wireless technologies for machine-human interaction.</a:t>
            </a:r>
          </a:p>
          <a:p>
            <a:r>
              <a:rPr lang="en-US" sz="2400" dirty="0" smtClean="0"/>
              <a:t> </a:t>
            </a:r>
          </a:p>
          <a:p>
            <a:pPr lvl="0"/>
            <a:r>
              <a:rPr lang="en-US" sz="2400" dirty="0" smtClean="0"/>
              <a:t>The creation of a home surveillance robot for security purposes.</a:t>
            </a:r>
          </a:p>
          <a:p>
            <a:r>
              <a:rPr lang="en-US" sz="2400" dirty="0" smtClean="0"/>
              <a:t> </a:t>
            </a:r>
          </a:p>
          <a:p>
            <a:r>
              <a:rPr lang="en-US" sz="2400" dirty="0" smtClean="0"/>
              <a:t>Create an android system capable of managing electrical equipment</a:t>
            </a:r>
            <a:endParaRPr lang="en-US" sz="2400" dirty="0" smtClean="0">
              <a:solidFill>
                <a:schemeClr val="tx1">
                  <a:lumMod val="65000"/>
                  <a:lumOff val="3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3.jpeg"/>
          <p:cNvPicPr/>
          <p:nvPr/>
        </p:nvPicPr>
        <p:blipFill>
          <a:blip r:embed="rId2" cstate="print"/>
          <a:stretch>
            <a:fillRect/>
          </a:stretch>
        </p:blipFill>
        <p:spPr>
          <a:xfrm>
            <a:off x="1428717" y="1643050"/>
            <a:ext cx="9620317" cy="4286280"/>
          </a:xfrm>
          <a:prstGeom prst="rect">
            <a:avLst/>
          </a:prstGeom>
        </p:spPr>
      </p:pic>
      <p:sp>
        <p:nvSpPr>
          <p:cNvPr id="6" name="Rectangle 5"/>
          <p:cNvSpPr/>
          <p:nvPr/>
        </p:nvSpPr>
        <p:spPr>
          <a:xfrm>
            <a:off x="1619219" y="285728"/>
            <a:ext cx="7905805" cy="785818"/>
          </a:xfrm>
          <a:prstGeom prst="rect">
            <a:avLst/>
          </a:prstGeom>
          <a:ln>
            <a:noFill/>
          </a:ln>
        </p:spPr>
        <p:style>
          <a:lnRef idx="2">
            <a:schemeClr val="accent6"/>
          </a:lnRef>
          <a:fillRef idx="1003">
            <a:schemeClr val="dk2"/>
          </a:fillRef>
          <a:effectRef idx="0">
            <a:schemeClr val="accent6"/>
          </a:effectRef>
          <a:fontRef idx="minor">
            <a:schemeClr val="dk1"/>
          </a:fontRef>
        </p:style>
        <p:txBody>
          <a:bodyPr rtlCol="0" anchor="ctr"/>
          <a:lstStyle/>
          <a:p>
            <a:pPr algn="ctr"/>
            <a:r>
              <a:rPr lang="en-US" sz="3600" dirty="0" smtClean="0">
                <a:solidFill>
                  <a:srgbClr val="00B050"/>
                </a:solidFill>
              </a:rPr>
              <a:t>BLOCK DIAGRAM</a:t>
            </a:r>
            <a:endParaRPr lang="en-US" sz="3600" dirty="0">
              <a:solidFill>
                <a:srgbClr val="00B05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522" y="285728"/>
            <a:ext cx="11358642" cy="9479518"/>
          </a:xfrm>
          <a:prstGeom prst="rect">
            <a:avLst/>
          </a:prstGeom>
        </p:spPr>
        <p:txBody>
          <a:bodyPr wrap="square">
            <a:spAutoFit/>
          </a:bodyPr>
          <a:lstStyle/>
          <a:p>
            <a:pPr lvl="4"/>
            <a:r>
              <a:rPr lang="en-US" sz="2800" b="1" i="1" spc="300" dirty="0" smtClean="0">
                <a:solidFill>
                  <a:srgbClr val="00B050"/>
                </a:solidFill>
              </a:rPr>
              <a:t>METHODOLOGY</a:t>
            </a:r>
          </a:p>
          <a:p>
            <a:pPr>
              <a:buClr>
                <a:schemeClr val="accent3"/>
              </a:buClr>
            </a:pPr>
            <a:r>
              <a:rPr lang="en-US" dirty="0" smtClean="0">
                <a:solidFill>
                  <a:schemeClr val="tx1">
                    <a:lumMod val="65000"/>
                    <a:lumOff val="35000"/>
                  </a:schemeClr>
                </a:solidFill>
              </a:rPr>
              <a:t> </a:t>
            </a:r>
          </a:p>
          <a:p>
            <a:pPr>
              <a:buClr>
                <a:srgbClr val="FF0000"/>
              </a:buClr>
              <a:buSzPct val="150000"/>
              <a:buFont typeface="Wingdings" pitchFamily="2" charset="2"/>
              <a:buChar char="v"/>
            </a:pPr>
            <a:r>
              <a:rPr lang="en-US" sz="2400" dirty="0" smtClean="0"/>
              <a:t>Define requirements </a:t>
            </a:r>
          </a:p>
          <a:p>
            <a:pPr>
              <a:buClr>
                <a:schemeClr val="accent3"/>
              </a:buClr>
              <a:buSzPct val="80000"/>
              <a:buFont typeface="Wingdings" pitchFamily="2" charset="2"/>
              <a:buChar char="Ø"/>
            </a:pPr>
            <a:r>
              <a:rPr lang="en-US" sz="2400" dirty="0" smtClean="0"/>
              <a:t>Supportive Operating systems for server</a:t>
            </a:r>
          </a:p>
          <a:p>
            <a:pPr>
              <a:buClr>
                <a:schemeClr val="accent3"/>
              </a:buClr>
              <a:buSzPct val="80000"/>
              <a:buFont typeface="Wingdings" pitchFamily="2" charset="2"/>
              <a:buChar char="Ø"/>
            </a:pPr>
            <a:r>
              <a:rPr lang="en-US" sz="2400" dirty="0" smtClean="0"/>
              <a:t>Supportive Operating systems for client </a:t>
            </a:r>
          </a:p>
          <a:p>
            <a:pPr>
              <a:buClr>
                <a:schemeClr val="accent3"/>
              </a:buClr>
              <a:buSzPct val="80000"/>
              <a:buFont typeface="Wingdings" pitchFamily="2" charset="2"/>
              <a:buChar char="Ø"/>
            </a:pPr>
            <a:r>
              <a:rPr lang="en-US" sz="2400" dirty="0" smtClean="0"/>
              <a:t>Software requirements </a:t>
            </a:r>
          </a:p>
          <a:p>
            <a:pPr>
              <a:buClr>
                <a:srgbClr val="FF0000"/>
              </a:buClr>
              <a:buSzPct val="150000"/>
              <a:buFont typeface="Wingdings" pitchFamily="2" charset="2"/>
              <a:buChar char="v"/>
            </a:pPr>
            <a:endParaRPr lang="en-US" sz="2400" dirty="0" smtClean="0">
              <a:solidFill>
                <a:schemeClr val="tx1">
                  <a:lumMod val="65000"/>
                  <a:lumOff val="35000"/>
                </a:schemeClr>
              </a:solidFill>
            </a:endParaRPr>
          </a:p>
          <a:p>
            <a:pPr>
              <a:buClr>
                <a:srgbClr val="FF0000"/>
              </a:buClr>
              <a:buSzPct val="150000"/>
              <a:buFont typeface="Wingdings" pitchFamily="2" charset="2"/>
              <a:buChar char="v"/>
            </a:pPr>
            <a:r>
              <a:rPr lang="en-US" sz="2400" dirty="0" smtClean="0"/>
              <a:t>Design system</a:t>
            </a:r>
          </a:p>
          <a:p>
            <a:pPr>
              <a:buClr>
                <a:srgbClr val="FF0000"/>
              </a:buClr>
              <a:buSzPct val="150000"/>
            </a:pPr>
            <a:r>
              <a:rPr lang="en-US" sz="2300" dirty="0" smtClean="0"/>
              <a:t>The system consists of two major sections – one is the user section and other is the robot section.</a:t>
            </a:r>
          </a:p>
          <a:p>
            <a:pPr>
              <a:buClr>
                <a:srgbClr val="FF0000"/>
              </a:buClr>
              <a:buSzPct val="150000"/>
            </a:pPr>
            <a:r>
              <a:rPr lang="en-US" sz="2300" dirty="0" smtClean="0"/>
              <a:t>In that the user section can possess laptop or mobile for communicating with the robot end. Thus by using a laptop or a mobile the user section can be a portable one compared to those that uses a typical stationary computer systems.</a:t>
            </a:r>
          </a:p>
          <a:p>
            <a:pPr>
              <a:buClr>
                <a:srgbClr val="FF0000"/>
              </a:buClr>
              <a:buSzPct val="150000"/>
            </a:pPr>
            <a:endParaRPr lang="en-US" sz="2400" dirty="0" smtClean="0"/>
          </a:p>
          <a:p>
            <a:pPr>
              <a:buClr>
                <a:srgbClr val="FF0000"/>
              </a:buClr>
              <a:buSzPct val="150000"/>
              <a:buFont typeface="Wingdings" pitchFamily="2" charset="2"/>
              <a:buChar char="v"/>
            </a:pPr>
            <a:r>
              <a:rPr lang="en-US" sz="2400" dirty="0" smtClean="0"/>
              <a:t>Develop and integrate </a:t>
            </a:r>
            <a:r>
              <a:rPr lang="en-US" sz="2400" dirty="0" smtClean="0"/>
              <a:t>subsystems</a:t>
            </a:r>
          </a:p>
          <a:p>
            <a:pPr>
              <a:buClr>
                <a:srgbClr val="FF0000"/>
              </a:buClr>
              <a:buSzPct val="150000"/>
            </a:pPr>
            <a:r>
              <a:rPr lang="en-US" sz="2400" dirty="0" smtClean="0"/>
              <a:t> </a:t>
            </a:r>
            <a:r>
              <a:rPr lang="en-US" sz="2400" dirty="0" smtClean="0"/>
              <a:t>     </a:t>
            </a:r>
            <a:r>
              <a:rPr lang="en-US" sz="2300" dirty="0" smtClean="0"/>
              <a:t>The subsystem should be developed and integrated into the overall system. </a:t>
            </a:r>
          </a:p>
          <a:p>
            <a:pPr>
              <a:buClr>
                <a:srgbClr val="FF0000"/>
              </a:buClr>
              <a:buSzPct val="150000"/>
            </a:pPr>
            <a:r>
              <a:rPr lang="en-US" sz="2300" dirty="0" smtClean="0"/>
              <a:t>	</a:t>
            </a:r>
            <a:r>
              <a:rPr lang="en-US" sz="2300" dirty="0" smtClean="0"/>
              <a:t>This involves designing the mechanical components. Developing the software , and          integrating the various subsystems into a cohesive system.</a:t>
            </a:r>
            <a:endParaRPr lang="en-US" sz="2300" dirty="0" smtClean="0"/>
          </a:p>
          <a:p>
            <a:pPr>
              <a:buClr>
                <a:srgbClr val="FF0000"/>
              </a:buClr>
              <a:buSzPct val="150000"/>
            </a:pPr>
            <a:endParaRPr lang="en-US" sz="2400" dirty="0" smtClean="0"/>
          </a:p>
          <a:p>
            <a:pPr>
              <a:buClr>
                <a:srgbClr val="FF0000"/>
              </a:buClr>
              <a:buSzPct val="150000"/>
            </a:pPr>
            <a:endParaRPr lang="en-US" sz="2400" dirty="0" smtClean="0"/>
          </a:p>
          <a:p>
            <a:pPr>
              <a:buClr>
                <a:srgbClr val="FF0000"/>
              </a:buClr>
              <a:buSzPct val="150000"/>
            </a:pPr>
            <a:endParaRPr lang="en-US" sz="2400" dirty="0" smtClean="0"/>
          </a:p>
          <a:p>
            <a:pPr>
              <a:buClr>
                <a:srgbClr val="FF0000"/>
              </a:buClr>
              <a:buSzPct val="150000"/>
            </a:pPr>
            <a:endParaRPr lang="en-US" sz="2400" dirty="0" smtClean="0"/>
          </a:p>
          <a:p>
            <a:pPr>
              <a:buClr>
                <a:srgbClr val="FF0000"/>
              </a:buClr>
              <a:buSzPct val="150000"/>
            </a:pPr>
            <a:endParaRPr lang="en-US" sz="2400" b="1" dirty="0" smtClean="0">
              <a:solidFill>
                <a:schemeClr val="tx1">
                  <a:lumMod val="65000"/>
                  <a:lumOff val="35000"/>
                </a:schemeClr>
              </a:solidFill>
            </a:endParaRPr>
          </a:p>
          <a:p>
            <a:pPr>
              <a:buClr>
                <a:schemeClr val="accent3"/>
              </a:buClr>
            </a:pPr>
            <a:r>
              <a:rPr lang="en-US" sz="2400" b="1" dirty="0" smtClean="0">
                <a:solidFill>
                  <a:schemeClr val="tx1">
                    <a:lumMod val="65000"/>
                    <a:lumOff val="35000"/>
                  </a:schemeClr>
                </a:solidFill>
              </a:rPr>
              <a:t> </a:t>
            </a:r>
          </a:p>
          <a:p>
            <a:endParaRPr lang="en-US" dirty="0" smtClean="0">
              <a:solidFill>
                <a:schemeClr val="tx1">
                  <a:lumMod val="65000"/>
                  <a:lumOff val="35000"/>
                </a:schemeClr>
              </a:solidFill>
            </a:endParaRPr>
          </a:p>
          <a:p>
            <a:endParaRPr lang="en-US" dirty="0" smtClean="0">
              <a:solidFill>
                <a:schemeClr val="tx1">
                  <a:lumMod val="65000"/>
                  <a:lumOff val="3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61" y="428605"/>
            <a:ext cx="10739513" cy="6001643"/>
          </a:xfrm>
          <a:prstGeom prst="rect">
            <a:avLst/>
          </a:prstGeom>
        </p:spPr>
        <p:txBody>
          <a:bodyPr wrap="square">
            <a:spAutoFit/>
          </a:bodyPr>
          <a:lstStyle/>
          <a:p>
            <a:pPr>
              <a:buClr>
                <a:srgbClr val="FF0000"/>
              </a:buClr>
              <a:buSzPct val="150000"/>
              <a:buFont typeface="Wingdings" pitchFamily="2" charset="2"/>
              <a:buChar char="v"/>
            </a:pPr>
            <a:r>
              <a:rPr lang="en-US" sz="2400" dirty="0" smtClean="0"/>
              <a:t>Test and validate the system</a:t>
            </a:r>
          </a:p>
          <a:p>
            <a:pPr lvl="1">
              <a:buClr>
                <a:srgbClr val="FF0000"/>
              </a:buClr>
              <a:buSzPct val="150000"/>
              <a:buFont typeface="Wingdings" pitchFamily="2" charset="2"/>
              <a:buChar char="v"/>
            </a:pPr>
            <a:endParaRPr lang="en-US" sz="2400" dirty="0" smtClean="0"/>
          </a:p>
          <a:p>
            <a:pPr lvl="1">
              <a:buClr>
                <a:srgbClr val="FF0000"/>
              </a:buClr>
              <a:buSzPct val="150000"/>
              <a:buFont typeface="Arial" pitchFamily="34" charset="0"/>
              <a:buChar char="•"/>
            </a:pPr>
            <a:r>
              <a:rPr lang="en-US" sz="2400" dirty="0" smtClean="0"/>
              <a:t>Functional testing</a:t>
            </a:r>
          </a:p>
          <a:p>
            <a:pPr lvl="1">
              <a:buClr>
                <a:srgbClr val="FF0000"/>
              </a:buClr>
              <a:buSzPct val="150000"/>
              <a:buFont typeface="Arial" pitchFamily="34" charset="0"/>
              <a:buChar char="•"/>
            </a:pPr>
            <a:r>
              <a:rPr lang="en-US" sz="2400" dirty="0" smtClean="0"/>
              <a:t> </a:t>
            </a:r>
            <a:r>
              <a:rPr lang="en-US" sz="2400" dirty="0" smtClean="0"/>
              <a:t>Accuracy testing</a:t>
            </a:r>
          </a:p>
          <a:p>
            <a:pPr lvl="1">
              <a:buClr>
                <a:srgbClr val="FF0000"/>
              </a:buClr>
              <a:buSzPct val="150000"/>
              <a:buFont typeface="Arial" pitchFamily="34" charset="0"/>
              <a:buChar char="•"/>
            </a:pPr>
            <a:r>
              <a:rPr lang="en-US" sz="2400" dirty="0" smtClean="0"/>
              <a:t> Noise testing </a:t>
            </a:r>
          </a:p>
          <a:p>
            <a:pPr lvl="1">
              <a:buClr>
                <a:srgbClr val="FF0000"/>
              </a:buClr>
              <a:buSzPct val="150000"/>
              <a:buFont typeface="Arial" pitchFamily="34" charset="0"/>
              <a:buChar char="•"/>
            </a:pPr>
            <a:r>
              <a:rPr lang="en-US" sz="2400" dirty="0" smtClean="0"/>
              <a:t>Sensitivity testing</a:t>
            </a:r>
          </a:p>
          <a:p>
            <a:pPr lvl="1">
              <a:buClr>
                <a:srgbClr val="FF0000"/>
              </a:buClr>
              <a:buSzPct val="150000"/>
              <a:buFont typeface="Arial" pitchFamily="34" charset="0"/>
              <a:buChar char="•"/>
            </a:pPr>
            <a:r>
              <a:rPr lang="en-US" sz="2400" dirty="0" smtClean="0"/>
              <a:t> Range testing</a:t>
            </a:r>
          </a:p>
          <a:p>
            <a:pPr lvl="1">
              <a:buClr>
                <a:srgbClr val="FF0000"/>
              </a:buClr>
              <a:buSzPct val="150000"/>
              <a:buFont typeface="Arial" pitchFamily="34" charset="0"/>
              <a:buChar char="•"/>
            </a:pPr>
            <a:r>
              <a:rPr lang="en-US" sz="2400" dirty="0" smtClean="0"/>
              <a:t> Securitytesting </a:t>
            </a:r>
          </a:p>
          <a:p>
            <a:pPr lvl="1">
              <a:buClr>
                <a:srgbClr val="FF0000"/>
              </a:buClr>
              <a:buSzPct val="150000"/>
              <a:buFont typeface="Arial" pitchFamily="34" charset="0"/>
              <a:buChar char="•"/>
            </a:pPr>
            <a:r>
              <a:rPr lang="en-US" sz="2400" dirty="0" smtClean="0"/>
              <a:t>Etc</a:t>
            </a:r>
          </a:p>
          <a:p>
            <a:pPr>
              <a:buClr>
                <a:srgbClr val="FF0000"/>
              </a:buClr>
              <a:buSzPct val="150000"/>
            </a:pPr>
            <a:endParaRPr lang="en-US" sz="2400" dirty="0" smtClean="0"/>
          </a:p>
          <a:p>
            <a:pPr>
              <a:buClr>
                <a:srgbClr val="FF0000"/>
              </a:buClr>
              <a:buSzPct val="150000"/>
              <a:buFont typeface="Wingdings" pitchFamily="2" charset="2"/>
              <a:buChar char="v"/>
            </a:pPr>
            <a:r>
              <a:rPr lang="en-US" sz="2400" dirty="0" smtClean="0"/>
              <a:t>Deploy and maintain the </a:t>
            </a:r>
            <a:r>
              <a:rPr lang="en-US" sz="2400" dirty="0" smtClean="0"/>
              <a:t>system</a:t>
            </a:r>
          </a:p>
          <a:p>
            <a:pPr>
              <a:buClr>
                <a:srgbClr val="FF0000"/>
              </a:buClr>
              <a:buSzPct val="150000"/>
            </a:pPr>
            <a:r>
              <a:rPr lang="en-US" sz="2400" dirty="0" smtClean="0"/>
              <a:t>The final step is to deploy the robot and maintain it over time.  This involves ensuring  that the robot  remains operational and meets the needs of the </a:t>
            </a:r>
            <a:r>
              <a:rPr lang="en-US" sz="2400" dirty="0" err="1" smtClean="0"/>
              <a:t>surviellance</a:t>
            </a:r>
            <a:r>
              <a:rPr lang="en-US" sz="2400" dirty="0" smtClean="0"/>
              <a:t>, as well as updating the system as needed  to incorporative new technologies and capabilities.</a:t>
            </a:r>
          </a:p>
          <a:p>
            <a:pPr>
              <a:buClr>
                <a:srgbClr val="FF0000"/>
              </a:buClr>
              <a:buSzPct val="150000"/>
            </a:pPr>
            <a:endParaRPr lang="en-US" sz="24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960" y="285728"/>
            <a:ext cx="11430080" cy="7001917"/>
          </a:xfrm>
          <a:prstGeom prst="rect">
            <a:avLst/>
          </a:prstGeom>
        </p:spPr>
        <p:txBody>
          <a:bodyPr wrap="square">
            <a:spAutoFit/>
          </a:bodyPr>
          <a:lstStyle/>
          <a:p>
            <a:r>
              <a:rPr lang="en-US" sz="2800" b="1" dirty="0" smtClean="0">
                <a:solidFill>
                  <a:schemeClr val="tx1">
                    <a:lumMod val="65000"/>
                    <a:lumOff val="35000"/>
                  </a:schemeClr>
                </a:solidFill>
              </a:rPr>
              <a:t>HARDWARE AND SOFTWARE REQUIERMENTS</a:t>
            </a:r>
          </a:p>
          <a:p>
            <a:pPr>
              <a:buClr>
                <a:schemeClr val="accent3"/>
              </a:buClr>
            </a:pPr>
            <a:r>
              <a:rPr lang="en-US" dirty="0" smtClean="0">
                <a:solidFill>
                  <a:schemeClr val="tx1">
                    <a:lumMod val="65000"/>
                    <a:lumOff val="35000"/>
                  </a:schemeClr>
                </a:solidFill>
              </a:rPr>
              <a:t> </a:t>
            </a:r>
            <a:endParaRPr lang="en-US" sz="2400" dirty="0" smtClean="0">
              <a:solidFill>
                <a:schemeClr val="tx1">
                  <a:lumMod val="65000"/>
                  <a:lumOff val="35000"/>
                </a:schemeClr>
              </a:solidFill>
            </a:endParaRPr>
          </a:p>
          <a:p>
            <a:pPr>
              <a:buClr>
                <a:srgbClr val="FF0000"/>
              </a:buClr>
              <a:buSzPct val="150000"/>
              <a:buFont typeface="Wingdings" pitchFamily="2" charset="2"/>
              <a:buChar char="v"/>
            </a:pPr>
            <a:r>
              <a:rPr lang="en-US" sz="2400" dirty="0" smtClean="0"/>
              <a:t>HARDWARE REQUIERMENTS		 </a:t>
            </a:r>
          </a:p>
          <a:p>
            <a:pPr lvl="1">
              <a:buFont typeface="Wingdings" pitchFamily="2" charset="2"/>
              <a:buChar char="Ø"/>
            </a:pPr>
            <a:r>
              <a:rPr lang="en-US" sz="2300" dirty="0" smtClean="0"/>
              <a:t>Arduino uno</a:t>
            </a:r>
          </a:p>
          <a:p>
            <a:pPr lvl="1">
              <a:buFont typeface="Wingdings" pitchFamily="2" charset="2"/>
              <a:buChar char="Ø"/>
            </a:pPr>
            <a:r>
              <a:rPr lang="en-US" sz="2300" dirty="0" smtClean="0"/>
              <a:t>MotordriverL293D</a:t>
            </a:r>
          </a:p>
          <a:p>
            <a:pPr lvl="1">
              <a:buFont typeface="Wingdings" pitchFamily="2" charset="2"/>
              <a:buChar char="Ø"/>
            </a:pPr>
            <a:r>
              <a:rPr lang="en-US" sz="2300" dirty="0" smtClean="0"/>
              <a:t>Ultrasonic sensor</a:t>
            </a:r>
          </a:p>
          <a:p>
            <a:pPr lvl="1">
              <a:buFont typeface="Wingdings" pitchFamily="2" charset="2"/>
              <a:buChar char="Ø"/>
            </a:pPr>
            <a:r>
              <a:rPr lang="en-US" sz="2300" dirty="0" smtClean="0"/>
              <a:t>Infrared </a:t>
            </a:r>
            <a:r>
              <a:rPr lang="en-US" sz="2300" dirty="0" smtClean="0"/>
              <a:t>sensor</a:t>
            </a:r>
          </a:p>
          <a:p>
            <a:pPr lvl="1">
              <a:buFont typeface="Wingdings" pitchFamily="2" charset="2"/>
              <a:buChar char="Ø"/>
            </a:pPr>
            <a:r>
              <a:rPr lang="en-US" sz="2300" dirty="0" smtClean="0"/>
              <a:t>PIR sensor</a:t>
            </a:r>
          </a:p>
          <a:p>
            <a:pPr lvl="1">
              <a:buFont typeface="Wingdings" pitchFamily="2" charset="2"/>
              <a:buChar char="Ø"/>
            </a:pPr>
            <a:r>
              <a:rPr lang="en-US" sz="2300" dirty="0" smtClean="0"/>
              <a:t>Gas sensor</a:t>
            </a:r>
          </a:p>
          <a:p>
            <a:pPr lvl="1">
              <a:buFont typeface="Wingdings" pitchFamily="2" charset="2"/>
              <a:buChar char="Ø"/>
            </a:pPr>
            <a:r>
              <a:rPr lang="en-US" sz="2300" dirty="0" smtClean="0"/>
              <a:t>Camera module</a:t>
            </a:r>
          </a:p>
          <a:p>
            <a:pPr lvl="1">
              <a:buFont typeface="Wingdings" pitchFamily="2" charset="2"/>
              <a:buChar char="Ø"/>
            </a:pPr>
            <a:r>
              <a:rPr lang="en-US" sz="2300" dirty="0" smtClean="0"/>
              <a:t>HC 05Bluetooth module</a:t>
            </a:r>
          </a:p>
          <a:p>
            <a:pPr lvl="1">
              <a:buFont typeface="Wingdings" pitchFamily="2" charset="2"/>
              <a:buChar char="Ø"/>
            </a:pPr>
            <a:r>
              <a:rPr lang="en-US" sz="2300" dirty="0" smtClean="0"/>
              <a:t>Robot chassis</a:t>
            </a:r>
          </a:p>
          <a:p>
            <a:pPr lvl="1">
              <a:buFont typeface="Wingdings" pitchFamily="2" charset="2"/>
              <a:buChar char="Ø"/>
            </a:pPr>
            <a:r>
              <a:rPr lang="en-US" sz="2300" dirty="0" smtClean="0"/>
              <a:t>L clamp</a:t>
            </a:r>
          </a:p>
          <a:p>
            <a:pPr lvl="1">
              <a:buFont typeface="Wingdings" pitchFamily="2" charset="2"/>
              <a:buChar char="Ø"/>
            </a:pPr>
            <a:r>
              <a:rPr lang="en-US" sz="2300" dirty="0" smtClean="0"/>
              <a:t>Wheels</a:t>
            </a:r>
          </a:p>
          <a:p>
            <a:pPr>
              <a:buClr>
                <a:srgbClr val="FF0000"/>
              </a:buClr>
              <a:buSzPct val="150000"/>
            </a:pPr>
            <a:endParaRPr lang="en-US" dirty="0" smtClean="0"/>
          </a:p>
          <a:p>
            <a:pPr>
              <a:buClr>
                <a:srgbClr val="FF0000"/>
              </a:buClr>
              <a:buSzPct val="150000"/>
            </a:pPr>
            <a:endParaRPr lang="en-US" dirty="0" smtClean="0"/>
          </a:p>
          <a:p>
            <a:pPr>
              <a:buClr>
                <a:srgbClr val="FF0000"/>
              </a:buClr>
              <a:buSzPct val="150000"/>
            </a:pPr>
            <a:endParaRPr lang="en-US" dirty="0" smtClean="0"/>
          </a:p>
          <a:p>
            <a:pPr>
              <a:buClr>
                <a:srgbClr val="FF0000"/>
              </a:buClr>
              <a:buSzPct val="150000"/>
            </a:pPr>
            <a:endParaRPr lang="en-US" b="1" dirty="0" smtClean="0">
              <a:solidFill>
                <a:schemeClr val="tx1">
                  <a:lumMod val="65000"/>
                  <a:lumOff val="35000"/>
                </a:schemeClr>
              </a:solidFill>
            </a:endParaRPr>
          </a:p>
          <a:p>
            <a:pPr>
              <a:buClr>
                <a:schemeClr val="accent3"/>
              </a:buClr>
            </a:pPr>
            <a:r>
              <a:rPr lang="en-US" b="1" dirty="0" smtClean="0">
                <a:solidFill>
                  <a:schemeClr val="tx1">
                    <a:lumMod val="65000"/>
                    <a:lumOff val="35000"/>
                  </a:schemeClr>
                </a:solidFill>
              </a:rPr>
              <a:t> </a:t>
            </a:r>
          </a:p>
          <a:p>
            <a:endParaRPr lang="en-US" dirty="0" smtClean="0">
              <a:solidFill>
                <a:schemeClr val="tx1">
                  <a:lumMod val="65000"/>
                  <a:lumOff val="35000"/>
                </a:schemeClr>
              </a:solidFill>
            </a:endParaRPr>
          </a:p>
          <a:p>
            <a:endParaRPr lang="en-US" dirty="0" smtClean="0">
              <a:solidFill>
                <a:schemeClr val="tx1">
                  <a:lumMod val="65000"/>
                  <a:lumOff val="35000"/>
                </a:schemeClr>
              </a:solidFill>
            </a:endParaRPr>
          </a:p>
        </p:txBody>
      </p:sp>
      <p:sp>
        <p:nvSpPr>
          <p:cNvPr id="5" name="TextBox 4"/>
          <p:cNvSpPr txBox="1"/>
          <p:nvPr/>
        </p:nvSpPr>
        <p:spPr>
          <a:xfrm>
            <a:off x="6453190" y="1000108"/>
            <a:ext cx="5357850" cy="1431161"/>
          </a:xfrm>
          <a:prstGeom prst="rect">
            <a:avLst/>
          </a:prstGeom>
          <a:noFill/>
        </p:spPr>
        <p:txBody>
          <a:bodyPr wrap="square" rtlCol="0">
            <a:spAutoFit/>
          </a:bodyPr>
          <a:lstStyle/>
          <a:p>
            <a:pPr lvl="1">
              <a:buClr>
                <a:schemeClr val="accent2"/>
              </a:buClr>
              <a:buFont typeface="Wingdings" pitchFamily="2" charset="2"/>
              <a:buChar char="v"/>
            </a:pPr>
            <a:r>
              <a:rPr lang="en-US" sz="2400" dirty="0" smtClean="0"/>
              <a:t>SOFTWARE REQUIERMENTS</a:t>
            </a:r>
          </a:p>
          <a:p>
            <a:pPr lvl="3">
              <a:buClr>
                <a:schemeClr val="accent2"/>
              </a:buClr>
              <a:buFont typeface="Wingdings" pitchFamily="2" charset="2"/>
              <a:buChar char="Ø"/>
            </a:pPr>
            <a:r>
              <a:rPr lang="en-US" sz="2300" dirty="0" smtClean="0"/>
              <a:t>  </a:t>
            </a:r>
            <a:r>
              <a:rPr lang="en-US" sz="2200" dirty="0" err="1" smtClean="0"/>
              <a:t>Arduino</a:t>
            </a:r>
            <a:r>
              <a:rPr lang="en-US" sz="2200" dirty="0" smtClean="0"/>
              <a:t> IDE</a:t>
            </a:r>
          </a:p>
          <a:p>
            <a:pPr lvl="3">
              <a:buClr>
                <a:schemeClr val="accent2"/>
              </a:buClr>
              <a:buFont typeface="Wingdings" pitchFamily="2" charset="2"/>
              <a:buChar char="Ø"/>
            </a:pPr>
            <a:r>
              <a:rPr lang="en-US" sz="2200" dirty="0" smtClean="0"/>
              <a:t>   C++</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xmlns="" id="{2E21ED3A-2D33-EBD1-4476-A38BBFACDC8F}"/>
              </a:ext>
            </a:extLst>
          </p:cNvPr>
          <p:cNvSpPr>
            <a:spLocks noGrp="1"/>
          </p:cNvSpPr>
          <p:nvPr>
            <p:ph type="subTitle" idx="1"/>
          </p:nvPr>
        </p:nvSpPr>
        <p:spPr>
          <a:xfrm>
            <a:off x="6562000" y="482287"/>
            <a:ext cx="5231794" cy="5893425"/>
          </a:xfrm>
        </p:spPr>
        <p:txBody>
          <a:bodyPr anchor="b">
            <a:noAutofit/>
          </a:bodyPr>
          <a:lstStyle/>
          <a:p>
            <a:pPr lvl="1" algn="l"/>
            <a:r>
              <a:rPr lang="en-US" sz="2400" b="1" i="1" dirty="0">
                <a:solidFill>
                  <a:schemeClr val="accent6"/>
                </a:solidFill>
              </a:rPr>
              <a:t>Description</a:t>
            </a:r>
          </a:p>
          <a:p>
            <a:pPr marL="742950" lvl="1" indent="-285750" algn="just">
              <a:buFont typeface="Arial" panose="020B0604020202020204" pitchFamily="34" charset="0"/>
              <a:buChar char="•"/>
            </a:pPr>
            <a:r>
              <a:rPr lang="en-US" b="1" dirty="0">
                <a:solidFill>
                  <a:schemeClr val="accent4"/>
                </a:solidFill>
              </a:rPr>
              <a:t>IC: Microchip ATmega328P[9]
Clock Speed: 16 MHz on Uno board, though IC is capable of 20MHz maximum at 5 Volts
Flash Memory: 32 KB, of which 0.5 KB used by the bootloader
SRAM: 2 KB
EEPROM: 1 KB
USART peripherals: 1 (Arduino software default configures USART as a 8N1 UART)
I2C peripherals: 1
Operating Voltage: 5 Volts
Digital I/O Pins: 14
PWM Pins: 6 (Pin # 3, 5, 6, 9, 10 and 11)[11]
Analog Input Pins: 6
DC Current per I/O Pin: 20 mA
DC Current for 3.3V Pin: 50 mA</a:t>
            </a:r>
          </a:p>
        </p:txBody>
      </p:sp>
      <p:sp>
        <p:nvSpPr>
          <p:cNvPr id="8" name="Rectangle 7">
            <a:extLst>
              <a:ext uri="{FF2B5EF4-FFF2-40B4-BE49-F238E27FC236}">
                <a16:creationId xmlns:a16="http://schemas.microsoft.com/office/drawing/2014/main" xmlns="" id="{CEB34EE3-D147-ACB9-3691-1CCBCC9646F6}"/>
              </a:ext>
            </a:extLst>
          </p:cNvPr>
          <p:cNvSpPr/>
          <p:nvPr/>
        </p:nvSpPr>
        <p:spPr>
          <a:xfrm>
            <a:off x="710642" y="416583"/>
            <a:ext cx="5525853" cy="771904"/>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800" dirty="0"/>
              <a:t>ARDUINO UNO</a:t>
            </a:r>
          </a:p>
        </p:txBody>
      </p:sp>
      <p:pic>
        <p:nvPicPr>
          <p:cNvPr id="6" name="Picture 5" descr="WhatsApp Image 2023-06-23 at 11.11.10 AM.jpeg"/>
          <p:cNvPicPr>
            <a:picLocks noChangeAspect="1"/>
          </p:cNvPicPr>
          <p:nvPr/>
        </p:nvPicPr>
        <p:blipFill>
          <a:blip r:embed="rId3"/>
          <a:stretch>
            <a:fillRect/>
          </a:stretch>
        </p:blipFill>
        <p:spPr>
          <a:xfrm>
            <a:off x="523836" y="1571612"/>
            <a:ext cx="6000792" cy="4714908"/>
          </a:xfrm>
          <a:prstGeom prst="rect">
            <a:avLst/>
          </a:prstGeom>
        </p:spPr>
      </p:pic>
    </p:spTree>
    <p:extLst>
      <p:ext uri="{BB962C8B-B14F-4D97-AF65-F5344CB8AC3E}">
        <p14:creationId xmlns:p14="http://schemas.microsoft.com/office/powerpoint/2010/main" xmlns="" val="1175837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276A66-D1BD-FCB0-EA7D-E3CEFDD7AE34}"/>
              </a:ext>
            </a:extLst>
          </p:cNvPr>
          <p:cNvSpPr>
            <a:spLocks noGrp="1"/>
          </p:cNvSpPr>
          <p:nvPr>
            <p:ph type="title"/>
          </p:nvPr>
        </p:nvSpPr>
        <p:spPr>
          <a:xfrm>
            <a:off x="771569" y="196039"/>
            <a:ext cx="4447972" cy="1016953"/>
          </a:xfrm>
        </p:spPr>
        <p:txBody>
          <a:bodyPr>
            <a:normAutofit/>
          </a:bodyPr>
          <a:lstStyle/>
          <a:p>
            <a:r>
              <a:rPr lang="en-US" dirty="0">
                <a:solidFill>
                  <a:schemeClr val="accent4"/>
                </a:solidFill>
              </a:rPr>
              <a:t>DC Gear Motor</a:t>
            </a:r>
          </a:p>
        </p:txBody>
      </p:sp>
      <p:pic>
        <p:nvPicPr>
          <p:cNvPr id="4" name="Picture 4">
            <a:extLst>
              <a:ext uri="{FF2B5EF4-FFF2-40B4-BE49-F238E27FC236}">
                <a16:creationId xmlns:a16="http://schemas.microsoft.com/office/drawing/2014/main" xmlns="" id="{BEB43085-975D-9F47-F7CB-597D4EE3E2DC}"/>
              </a:ext>
            </a:extLst>
          </p:cNvPr>
          <p:cNvPicPr>
            <a:picLocks noGrp="1" noChangeAspect="1"/>
          </p:cNvPicPr>
          <p:nvPr>
            <p:ph idx="1"/>
          </p:nvPr>
        </p:nvPicPr>
        <p:blipFill>
          <a:blip r:embed="rId2"/>
          <a:stretch>
            <a:fillRect/>
          </a:stretch>
        </p:blipFill>
        <p:spPr>
          <a:xfrm>
            <a:off x="592256" y="2370847"/>
            <a:ext cx="3685658" cy="3314287"/>
          </a:xfrm>
        </p:spPr>
      </p:pic>
      <p:sp>
        <p:nvSpPr>
          <p:cNvPr id="5" name="Rectangle 4">
            <a:extLst>
              <a:ext uri="{FF2B5EF4-FFF2-40B4-BE49-F238E27FC236}">
                <a16:creationId xmlns:a16="http://schemas.microsoft.com/office/drawing/2014/main" xmlns="" id="{17B725B5-7602-BB7F-A5D7-AEC5E2FCF132}"/>
              </a:ext>
            </a:extLst>
          </p:cNvPr>
          <p:cNvSpPr/>
          <p:nvPr/>
        </p:nvSpPr>
        <p:spPr>
          <a:xfrm>
            <a:off x="6096000" y="776345"/>
            <a:ext cx="5188502" cy="5974752"/>
          </a:xfrm>
          <a:prstGeom prst="rect">
            <a:avLst/>
          </a:prstGeom>
          <a:noFill/>
          <a:ln>
            <a:noFill/>
          </a:ln>
        </p:spPr>
        <p:style>
          <a:lnRef idx="0">
            <a:scrgbClr r="0" g="0" b="0"/>
          </a:lnRef>
          <a:fillRef idx="0">
            <a:scrgbClr r="0" g="0" b="0"/>
          </a:fillRef>
          <a:effectRef idx="0">
            <a:scrgbClr r="0" g="0" b="0"/>
          </a:effectRef>
          <a:fontRef idx="minor">
            <a:schemeClr val="accent4"/>
          </a:fontRef>
        </p:style>
        <p:txBody>
          <a:bodyPr rtlCol="0" anchor="ctr"/>
          <a:lstStyle/>
          <a:p>
            <a:r>
              <a:rPr lang="en-US" dirty="0"/>
              <a:t>Specification :-
Operating Voltage (VDC)      :   3 ~ 12V
Shaft Length (mm)                :    8.5
Shaft Diameter (mm)             :   5.5
No Load Current (mA)          :  40-180mA.
Rated Speed After Reduction (RPM) :   100
Rated Torque (Kg-Cm)         :    0.35
Weight (gm)                          :  30
Dimensions in mm (</a:t>
            </a:r>
            <a:r>
              <a:rPr lang="en-US" dirty="0" err="1"/>
              <a:t>LxWxH</a:t>
            </a:r>
            <a:r>
              <a:rPr lang="en-US" dirty="0"/>
              <a:t>)   : 70x35x22
Gearbox Shape                       :  Straight</a:t>
            </a:r>
          </a:p>
        </p:txBody>
      </p:sp>
    </p:spTree>
    <p:extLst>
      <p:ext uri="{BB962C8B-B14F-4D97-AF65-F5344CB8AC3E}">
        <p14:creationId xmlns:p14="http://schemas.microsoft.com/office/powerpoint/2010/main" xmlns="" val="2559730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AED2F1-B8ED-5640-15FF-89D72325ABC9}"/>
              </a:ext>
            </a:extLst>
          </p:cNvPr>
          <p:cNvSpPr>
            <a:spLocks noGrp="1"/>
          </p:cNvSpPr>
          <p:nvPr>
            <p:ph type="title"/>
          </p:nvPr>
        </p:nvSpPr>
        <p:spPr>
          <a:xfrm>
            <a:off x="807161" y="404331"/>
            <a:ext cx="4080400" cy="774926"/>
          </a:xfrm>
        </p:spPr>
        <p:txBody>
          <a:bodyPr anchor="b">
            <a:normAutofit fontScale="90000"/>
          </a:bodyPr>
          <a:lstStyle/>
          <a:p>
            <a:pPr algn="just"/>
            <a:r>
              <a:rPr lang="en-US" i="1" dirty="0">
                <a:solidFill>
                  <a:schemeClr val="accent5"/>
                </a:solidFill>
              </a:rPr>
              <a:t/>
            </a:r>
            <a:br>
              <a:rPr lang="en-US" i="1" dirty="0">
                <a:solidFill>
                  <a:schemeClr val="accent5"/>
                </a:solidFill>
              </a:rPr>
            </a:br>
            <a:r>
              <a:rPr lang="en-US" i="1" dirty="0">
                <a:solidFill>
                  <a:schemeClr val="accent5"/>
                </a:solidFill>
              </a:rPr>
              <a:t>
 L293D Motor Driver</a:t>
            </a:r>
          </a:p>
        </p:txBody>
      </p:sp>
      <p:pic>
        <p:nvPicPr>
          <p:cNvPr id="5" name="Picture 5">
            <a:extLst>
              <a:ext uri="{FF2B5EF4-FFF2-40B4-BE49-F238E27FC236}">
                <a16:creationId xmlns:a16="http://schemas.microsoft.com/office/drawing/2014/main" xmlns="" id="{14480A58-B522-95A9-3306-CC91EE46AB2A}"/>
              </a:ext>
            </a:extLst>
          </p:cNvPr>
          <p:cNvPicPr>
            <a:picLocks noGrp="1" noChangeAspect="1"/>
          </p:cNvPicPr>
          <p:nvPr>
            <p:ph sz="half" idx="1"/>
          </p:nvPr>
        </p:nvPicPr>
        <p:blipFill>
          <a:blip r:embed="rId2"/>
          <a:stretch>
            <a:fillRect/>
          </a:stretch>
        </p:blipFill>
        <p:spPr>
          <a:xfrm>
            <a:off x="807161" y="1883938"/>
            <a:ext cx="4080400" cy="3243918"/>
          </a:xfrm>
        </p:spPr>
      </p:pic>
      <p:sp>
        <p:nvSpPr>
          <p:cNvPr id="4" name="Content Placeholder 3">
            <a:extLst>
              <a:ext uri="{FF2B5EF4-FFF2-40B4-BE49-F238E27FC236}">
                <a16:creationId xmlns:a16="http://schemas.microsoft.com/office/drawing/2014/main" xmlns="" id="{9D861BD3-1FDB-E94F-469D-36CD1FA6B824}"/>
              </a:ext>
            </a:extLst>
          </p:cNvPr>
          <p:cNvSpPr>
            <a:spLocks noGrp="1"/>
          </p:cNvSpPr>
          <p:nvPr>
            <p:ph sz="half" idx="2"/>
          </p:nvPr>
        </p:nvSpPr>
        <p:spPr>
          <a:xfrm>
            <a:off x="6096000" y="173755"/>
            <a:ext cx="4995332" cy="6780231"/>
          </a:xfrm>
        </p:spPr>
        <p:txBody>
          <a:bodyPr>
            <a:normAutofit/>
          </a:bodyPr>
          <a:lstStyle/>
          <a:p>
            <a:pPr marL="0" indent="0" algn="ctr">
              <a:buNone/>
            </a:pPr>
            <a:r>
              <a:rPr lang="en-US" sz="2800" dirty="0">
                <a:solidFill>
                  <a:schemeClr val="accent5"/>
                </a:solidFill>
              </a:rPr>
              <a:t>DESCRIPTION</a:t>
            </a:r>
          </a:p>
          <a:p>
            <a:r>
              <a:rPr lang="en-US" dirty="0">
                <a:solidFill>
                  <a:schemeClr val="accent4"/>
                </a:solidFill>
              </a:rPr>
              <a:t>The Robotics uses the L293D Motor Driver IC which utilizes two H- Bridges to control the speed and motion of the respective motors. It features of16 pins that can be used to control two motors. </a:t>
            </a:r>
          </a:p>
          <a:p>
            <a:r>
              <a:rPr lang="en-US" dirty="0">
                <a:solidFill>
                  <a:schemeClr val="accent4"/>
                </a:solidFill>
              </a:rPr>
              <a:t>It Consists of two input pins and two output pins for each motor, and the input is received from the Micro-computer and the output goes to the motor.</a:t>
            </a:r>
          </a:p>
          <a:p>
            <a:r>
              <a:rPr lang="en-US" dirty="0">
                <a:solidFill>
                  <a:schemeClr val="accent4"/>
                </a:solidFill>
              </a:rPr>
              <a:t>Wide Supply-Voltage Range: 4.5 V to 36 V
Separate Input-Logic Supply
Internal ESD Protection
High-Noise-Immunity Inputs
Output Current 1 A Per Channel (600 mA for L293D)
Peak Output Current 2 A Per Channel (1.2 A for L293D)</a:t>
            </a:r>
          </a:p>
          <a:p>
            <a:endParaRPr lang="en-US" dirty="0"/>
          </a:p>
        </p:txBody>
      </p:sp>
    </p:spTree>
    <p:extLst>
      <p:ext uri="{BB962C8B-B14F-4D97-AF65-F5344CB8AC3E}">
        <p14:creationId xmlns:p14="http://schemas.microsoft.com/office/powerpoint/2010/main" xmlns="" val="3943381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CE131D-76F0-C1ED-80F9-13DA5D12902D}"/>
              </a:ext>
            </a:extLst>
          </p:cNvPr>
          <p:cNvSpPr>
            <a:spLocks noGrp="1"/>
          </p:cNvSpPr>
          <p:nvPr>
            <p:ph type="title"/>
          </p:nvPr>
        </p:nvSpPr>
        <p:spPr>
          <a:xfrm>
            <a:off x="1191302" y="1246"/>
            <a:ext cx="5157449" cy="1559082"/>
          </a:xfrm>
        </p:spPr>
        <p:txBody>
          <a:bodyPr>
            <a:normAutofit/>
          </a:bodyPr>
          <a:lstStyle/>
          <a:p>
            <a:r>
              <a:rPr lang="en-US" sz="4000" i="1" dirty="0">
                <a:solidFill>
                  <a:schemeClr val="accent4">
                    <a:lumMod val="75000"/>
                  </a:schemeClr>
                </a:solidFill>
              </a:rPr>
              <a:t>Mq3 Gas Sensor</a:t>
            </a:r>
          </a:p>
        </p:txBody>
      </p:sp>
      <p:pic>
        <p:nvPicPr>
          <p:cNvPr id="5" name="Picture 5">
            <a:extLst>
              <a:ext uri="{FF2B5EF4-FFF2-40B4-BE49-F238E27FC236}">
                <a16:creationId xmlns:a16="http://schemas.microsoft.com/office/drawing/2014/main" xmlns="" id="{9E13B149-608C-0F6D-6744-FD536F20FED3}"/>
              </a:ext>
            </a:extLst>
          </p:cNvPr>
          <p:cNvPicPr>
            <a:picLocks noGrp="1" noChangeAspect="1"/>
          </p:cNvPicPr>
          <p:nvPr>
            <p:ph sz="half" idx="1"/>
          </p:nvPr>
        </p:nvPicPr>
        <p:blipFill>
          <a:blip r:embed="rId2"/>
          <a:stretch>
            <a:fillRect/>
          </a:stretch>
        </p:blipFill>
        <p:spPr>
          <a:xfrm>
            <a:off x="474179" y="2168683"/>
            <a:ext cx="4769868" cy="3908530"/>
          </a:xfrm>
        </p:spPr>
      </p:pic>
      <p:sp>
        <p:nvSpPr>
          <p:cNvPr id="4" name="Content Placeholder 3">
            <a:extLst>
              <a:ext uri="{FF2B5EF4-FFF2-40B4-BE49-F238E27FC236}">
                <a16:creationId xmlns:a16="http://schemas.microsoft.com/office/drawing/2014/main" xmlns="" id="{6EEA5612-044D-3114-08AC-FE596A00224F}"/>
              </a:ext>
            </a:extLst>
          </p:cNvPr>
          <p:cNvSpPr>
            <a:spLocks noGrp="1"/>
          </p:cNvSpPr>
          <p:nvPr>
            <p:ph sz="half" idx="2"/>
          </p:nvPr>
        </p:nvSpPr>
        <p:spPr>
          <a:xfrm>
            <a:off x="6440644" y="1458041"/>
            <a:ext cx="4995332" cy="3608345"/>
          </a:xfrm>
        </p:spPr>
        <p:txBody>
          <a:bodyPr anchor="t"/>
          <a:lstStyle/>
          <a:p>
            <a:pPr marL="0" indent="0" algn="ctr">
              <a:buNone/>
            </a:pPr>
            <a:r>
              <a:rPr lang="en-US" sz="2400" dirty="0">
                <a:solidFill>
                  <a:schemeClr val="accent4">
                    <a:lumMod val="75000"/>
                  </a:schemeClr>
                </a:solidFill>
              </a:rPr>
              <a:t>DESCRIPTION</a:t>
            </a:r>
          </a:p>
          <a:p>
            <a:endParaRPr lang="en-US" dirty="0">
              <a:solidFill>
                <a:schemeClr val="accent5"/>
              </a:solidFill>
            </a:endParaRPr>
          </a:p>
          <a:p>
            <a:r>
              <a:rPr lang="en-US" dirty="0">
                <a:solidFill>
                  <a:schemeClr val="accent5"/>
                </a:solidFill>
              </a:rPr>
              <a:t>It is a sensor which can detect the presence of various flammable gases at different concentrations. </a:t>
            </a:r>
          </a:p>
          <a:p>
            <a:r>
              <a:rPr lang="en-US" dirty="0">
                <a:solidFill>
                  <a:schemeClr val="accent5"/>
                </a:solidFill>
              </a:rPr>
              <a:t>The output of the sensors varies according to the presence of gas values.</a:t>
            </a:r>
          </a:p>
        </p:txBody>
      </p:sp>
    </p:spTree>
    <p:extLst>
      <p:ext uri="{BB962C8B-B14F-4D97-AF65-F5344CB8AC3E}">
        <p14:creationId xmlns:p14="http://schemas.microsoft.com/office/powerpoint/2010/main" xmlns="" val="4235352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D201BB-C1C8-7D2A-1372-D9847CBA4DD7}"/>
              </a:ext>
            </a:extLst>
          </p:cNvPr>
          <p:cNvSpPr>
            <a:spLocks noGrp="1"/>
          </p:cNvSpPr>
          <p:nvPr>
            <p:ph type="title"/>
          </p:nvPr>
        </p:nvSpPr>
        <p:spPr>
          <a:xfrm>
            <a:off x="324762" y="267561"/>
            <a:ext cx="5771238" cy="1337509"/>
          </a:xfrm>
        </p:spPr>
        <p:txBody>
          <a:bodyPr/>
          <a:lstStyle/>
          <a:p>
            <a:r>
              <a:rPr lang="en-US" dirty="0">
                <a:solidFill>
                  <a:schemeClr val="accent4">
                    <a:lumMod val="60000"/>
                    <a:lumOff val="40000"/>
                  </a:schemeClr>
                </a:solidFill>
              </a:rPr>
              <a:t>HC-Sr04 Ultrasonic sensor</a:t>
            </a:r>
            <a:r>
              <a:rPr lang="en-US" dirty="0"/>
              <a:t> </a:t>
            </a:r>
          </a:p>
        </p:txBody>
      </p:sp>
      <p:sp>
        <p:nvSpPr>
          <p:cNvPr id="4" name="Content Placeholder 3">
            <a:extLst>
              <a:ext uri="{FF2B5EF4-FFF2-40B4-BE49-F238E27FC236}">
                <a16:creationId xmlns:a16="http://schemas.microsoft.com/office/drawing/2014/main" xmlns="" id="{3AFA8B47-D9FC-80B7-3068-62CDE3D6FBD4}"/>
              </a:ext>
            </a:extLst>
          </p:cNvPr>
          <p:cNvSpPr>
            <a:spLocks noGrp="1"/>
          </p:cNvSpPr>
          <p:nvPr>
            <p:ph sz="half" idx="2"/>
          </p:nvPr>
        </p:nvSpPr>
        <p:spPr/>
        <p:txBody>
          <a:bodyPr anchor="t"/>
          <a:lstStyle/>
          <a:p>
            <a:pPr marL="0" indent="0">
              <a:buNone/>
            </a:pPr>
            <a:endParaRPr lang="en-US" dirty="0"/>
          </a:p>
          <a:p>
            <a:pPr marL="0" indent="0">
              <a:buNone/>
            </a:pPr>
            <a:endParaRPr lang="en-US" dirty="0"/>
          </a:p>
        </p:txBody>
      </p:sp>
      <p:sp>
        <p:nvSpPr>
          <p:cNvPr id="6" name="Rectangle 5">
            <a:extLst>
              <a:ext uri="{FF2B5EF4-FFF2-40B4-BE49-F238E27FC236}">
                <a16:creationId xmlns:a16="http://schemas.microsoft.com/office/drawing/2014/main" xmlns="" id="{4A5EB796-67F0-910E-B35A-ED54757844B9}"/>
              </a:ext>
            </a:extLst>
          </p:cNvPr>
          <p:cNvSpPr/>
          <p:nvPr/>
        </p:nvSpPr>
        <p:spPr>
          <a:xfrm>
            <a:off x="6567311" y="1146441"/>
            <a:ext cx="4868617" cy="537798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t"/>
          <a:lstStyle/>
          <a:p>
            <a:endParaRPr lang="en-US" dirty="0"/>
          </a:p>
          <a:p>
            <a:r>
              <a:rPr lang="en-US" sz="2400" i="1" dirty="0">
                <a:solidFill>
                  <a:schemeClr val="bg2">
                    <a:lumMod val="40000"/>
                    <a:lumOff val="60000"/>
                  </a:schemeClr>
                </a:solidFill>
              </a:rPr>
              <a:t>DESCRIPTION</a:t>
            </a:r>
          </a:p>
          <a:p>
            <a:endParaRPr lang="en-US" dirty="0"/>
          </a:p>
          <a:p>
            <a:pPr marL="285750" indent="-285750">
              <a:buFont typeface="Arial" panose="020B0604020202020204" pitchFamily="34" charset="0"/>
              <a:buChar char="•"/>
            </a:pPr>
            <a:r>
              <a:rPr lang="en-US" dirty="0"/>
              <a:t>HC-SR04 is an ultrasonic sensor mainly used to determine the distance of the target object.</a:t>
            </a:r>
          </a:p>
          <a:p>
            <a:endParaRPr lang="en-US" dirty="0"/>
          </a:p>
          <a:p>
            <a:pPr marL="285750" indent="-285750">
              <a:buFont typeface="Arial" panose="020B0604020202020204" pitchFamily="34" charset="0"/>
              <a:buChar char="•"/>
            </a:pPr>
            <a:r>
              <a:rPr lang="en-US" dirty="0"/>
              <a:t>It measures accurate distance using a non-contact technology</a:t>
            </a:r>
          </a:p>
          <a:p>
            <a:endParaRPr lang="en-US" dirty="0"/>
          </a:p>
          <a:p>
            <a:pPr marL="285750" indent="-285750">
              <a:buFont typeface="Arial" panose="020B0604020202020204" pitchFamily="34" charset="0"/>
              <a:buChar char="•"/>
            </a:pPr>
            <a:r>
              <a:rPr lang="en-US" dirty="0"/>
              <a:t>Transmitter and receiver are two main parts of the sensor where former converts an electrical signal to ultrasonic waves while later converts that ultrasonic signals back to electrical signals.</a:t>
            </a:r>
          </a:p>
        </p:txBody>
      </p:sp>
      <p:pic>
        <p:nvPicPr>
          <p:cNvPr id="9" name="Picture 9">
            <a:extLst>
              <a:ext uri="{FF2B5EF4-FFF2-40B4-BE49-F238E27FC236}">
                <a16:creationId xmlns:a16="http://schemas.microsoft.com/office/drawing/2014/main" xmlns="" id="{C0AAC31C-CC2F-A741-E387-A46FDC5B5F10}"/>
              </a:ext>
            </a:extLst>
          </p:cNvPr>
          <p:cNvPicPr>
            <a:picLocks noGrp="1" noChangeAspect="1"/>
          </p:cNvPicPr>
          <p:nvPr>
            <p:ph sz="half" idx="1"/>
          </p:nvPr>
        </p:nvPicPr>
        <p:blipFill>
          <a:blip r:embed="rId2"/>
          <a:stretch>
            <a:fillRect/>
          </a:stretch>
        </p:blipFill>
        <p:spPr>
          <a:xfrm>
            <a:off x="530238" y="2065867"/>
            <a:ext cx="4995863" cy="4121618"/>
          </a:xfrm>
        </p:spPr>
      </p:pic>
    </p:spTree>
    <p:extLst>
      <p:ext uri="{BB962C8B-B14F-4D97-AF65-F5344CB8AC3E}">
        <p14:creationId xmlns:p14="http://schemas.microsoft.com/office/powerpoint/2010/main" xmlns="" val="1282373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1BA5C7-C521-54A2-BF2E-41C6034D60BD}"/>
              </a:ext>
            </a:extLst>
          </p:cNvPr>
          <p:cNvSpPr>
            <a:spLocks noGrp="1"/>
          </p:cNvSpPr>
          <p:nvPr>
            <p:ph type="title"/>
          </p:nvPr>
        </p:nvSpPr>
        <p:spPr>
          <a:xfrm>
            <a:off x="685802" y="609600"/>
            <a:ext cx="9790040" cy="860693"/>
          </a:xfrm>
        </p:spPr>
        <p:txBody>
          <a:bodyPr/>
          <a:lstStyle/>
          <a:p>
            <a:r>
              <a:rPr lang="en-US" dirty="0">
                <a:solidFill>
                  <a:schemeClr val="accent4"/>
                </a:solidFill>
              </a:rPr>
              <a:t>HC-SR501 Passive Infrared (PIR) Motion Sensor</a:t>
            </a:r>
          </a:p>
        </p:txBody>
      </p:sp>
      <p:pic>
        <p:nvPicPr>
          <p:cNvPr id="6" name="Picture 6">
            <a:extLst>
              <a:ext uri="{FF2B5EF4-FFF2-40B4-BE49-F238E27FC236}">
                <a16:creationId xmlns:a16="http://schemas.microsoft.com/office/drawing/2014/main" xmlns="" id="{F40A9161-F169-BEE3-C27F-D205CABBBB31}"/>
              </a:ext>
            </a:extLst>
          </p:cNvPr>
          <p:cNvPicPr>
            <a:picLocks noGrp="1" noChangeAspect="1"/>
          </p:cNvPicPr>
          <p:nvPr>
            <p:ph sz="half" idx="1"/>
          </p:nvPr>
        </p:nvPicPr>
        <p:blipFill rotWithShape="1">
          <a:blip r:embed="rId2"/>
          <a:srcRect b="10649"/>
          <a:stretch/>
        </p:blipFill>
        <p:spPr>
          <a:xfrm>
            <a:off x="1090468" y="1715342"/>
            <a:ext cx="3648732" cy="4214842"/>
          </a:xfrm>
        </p:spPr>
      </p:pic>
      <p:sp>
        <p:nvSpPr>
          <p:cNvPr id="4" name="Content Placeholder 3">
            <a:extLst>
              <a:ext uri="{FF2B5EF4-FFF2-40B4-BE49-F238E27FC236}">
                <a16:creationId xmlns:a16="http://schemas.microsoft.com/office/drawing/2014/main" xmlns="" id="{2A7703A1-782D-F02D-F6B9-1EF0A851D0BD}"/>
              </a:ext>
            </a:extLst>
          </p:cNvPr>
          <p:cNvSpPr>
            <a:spLocks noGrp="1"/>
          </p:cNvSpPr>
          <p:nvPr>
            <p:ph sz="half" idx="2"/>
          </p:nvPr>
        </p:nvSpPr>
        <p:spPr>
          <a:xfrm>
            <a:off x="5580822" y="1604432"/>
            <a:ext cx="5520710" cy="4889363"/>
          </a:xfrm>
        </p:spPr>
        <p:txBody>
          <a:bodyPr anchor="t"/>
          <a:lstStyle/>
          <a:p>
            <a:pPr marL="0" indent="0" algn="ctr">
              <a:buNone/>
            </a:pPr>
            <a:r>
              <a:rPr lang="en-US" sz="3200" dirty="0" smtClean="0">
                <a:solidFill>
                  <a:srgbClr val="FF0000"/>
                </a:solidFill>
              </a:rPr>
              <a:t>DESCRIPTION</a:t>
            </a:r>
            <a:endParaRPr lang="en-US" sz="2400" dirty="0">
              <a:solidFill>
                <a:schemeClr val="accent3"/>
              </a:solidFill>
            </a:endParaRPr>
          </a:p>
          <a:p>
            <a:r>
              <a:rPr lang="en-US" sz="2800" dirty="0">
                <a:solidFill>
                  <a:schemeClr val="accent3"/>
                </a:solidFill>
              </a:rPr>
              <a:t>This sensor is used to detect motion of any obstacle or presence of any body. </a:t>
            </a:r>
          </a:p>
          <a:p>
            <a:r>
              <a:rPr lang="en-US" sz="2800" dirty="0">
                <a:solidFill>
                  <a:schemeClr val="accent3"/>
                </a:solidFill>
              </a:rPr>
              <a:t>The range of the sensor varies from 3-7m.</a:t>
            </a:r>
          </a:p>
        </p:txBody>
      </p:sp>
    </p:spTree>
    <p:extLst>
      <p:ext uri="{BB962C8B-B14F-4D97-AF65-F5344CB8AC3E}">
        <p14:creationId xmlns:p14="http://schemas.microsoft.com/office/powerpoint/2010/main" xmlns="" val="2947021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5EAE41-86E6-E683-81CE-56E37F5EF26D}"/>
              </a:ext>
            </a:extLst>
          </p:cNvPr>
          <p:cNvSpPr>
            <a:spLocks noGrp="1"/>
          </p:cNvSpPr>
          <p:nvPr>
            <p:ph type="title"/>
          </p:nvPr>
        </p:nvSpPr>
        <p:spPr>
          <a:xfrm>
            <a:off x="685801" y="306312"/>
            <a:ext cx="6837200" cy="1384525"/>
          </a:xfrm>
        </p:spPr>
        <p:txBody>
          <a:bodyPr/>
          <a:lstStyle/>
          <a:p>
            <a:r>
              <a:rPr lang="en-US" dirty="0">
                <a:solidFill>
                  <a:schemeClr val="accent6"/>
                </a:solidFill>
              </a:rPr>
              <a:t>HC-05 Bluetooth Module</a:t>
            </a:r>
          </a:p>
        </p:txBody>
      </p:sp>
      <p:pic>
        <p:nvPicPr>
          <p:cNvPr id="5" name="Picture 5">
            <a:extLst>
              <a:ext uri="{FF2B5EF4-FFF2-40B4-BE49-F238E27FC236}">
                <a16:creationId xmlns:a16="http://schemas.microsoft.com/office/drawing/2014/main" xmlns="" id="{30998AF5-AF1D-2CFA-4745-E4FF183B5BDF}"/>
              </a:ext>
            </a:extLst>
          </p:cNvPr>
          <p:cNvPicPr>
            <a:picLocks noGrp="1" noChangeAspect="1"/>
          </p:cNvPicPr>
          <p:nvPr>
            <p:ph sz="half" idx="1"/>
          </p:nvPr>
        </p:nvPicPr>
        <p:blipFill>
          <a:blip r:embed="rId2"/>
          <a:stretch>
            <a:fillRect/>
          </a:stretch>
        </p:blipFill>
        <p:spPr>
          <a:xfrm>
            <a:off x="463138" y="1908781"/>
            <a:ext cx="4583636" cy="3803443"/>
          </a:xfrm>
        </p:spPr>
      </p:pic>
      <p:sp>
        <p:nvSpPr>
          <p:cNvPr id="4" name="Content Placeholder 3">
            <a:extLst>
              <a:ext uri="{FF2B5EF4-FFF2-40B4-BE49-F238E27FC236}">
                <a16:creationId xmlns:a16="http://schemas.microsoft.com/office/drawing/2014/main" xmlns="" id="{1EE35032-6BC4-851C-45A0-876DAF930A3D}"/>
              </a:ext>
            </a:extLst>
          </p:cNvPr>
          <p:cNvSpPr>
            <a:spLocks noGrp="1"/>
          </p:cNvSpPr>
          <p:nvPr>
            <p:ph sz="half" idx="2"/>
          </p:nvPr>
        </p:nvSpPr>
        <p:spPr>
          <a:xfrm>
            <a:off x="6475857" y="1816873"/>
            <a:ext cx="4801736" cy="5314355"/>
          </a:xfrm>
        </p:spPr>
        <p:txBody>
          <a:bodyPr anchor="t">
            <a:normAutofit/>
          </a:bodyPr>
          <a:lstStyle/>
          <a:p>
            <a:r>
              <a:rPr lang="en-US" sz="2400" dirty="0">
                <a:solidFill>
                  <a:schemeClr val="accent6"/>
                </a:solidFill>
              </a:rPr>
              <a:t>Features</a:t>
            </a:r>
            <a:r>
              <a:rPr lang="en-US" dirty="0"/>
              <a:t>:
Bluetooth v2.0+EDR
2.4GHz ISM band frequency
Supported baud rate: 9600 (default), 19200,38400, 57600, 115200, 230400, 460800.
Speed: Asynchronous: 2.1Mbps(Max) / 160 kbps, Synchronous: 1Mbps/1Mbps
Power supply: 3.6V to 6V DC
Passkey: 1234</a:t>
            </a:r>
          </a:p>
        </p:txBody>
      </p:sp>
    </p:spTree>
    <p:extLst>
      <p:ext uri="{BB962C8B-B14F-4D97-AF65-F5344CB8AC3E}">
        <p14:creationId xmlns:p14="http://schemas.microsoft.com/office/powerpoint/2010/main" xmlns="" val="1358138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0262E8-1F27-1891-B6E9-D993307196E9}"/>
              </a:ext>
            </a:extLst>
          </p:cNvPr>
          <p:cNvSpPr>
            <a:spLocks noGrp="1"/>
          </p:cNvSpPr>
          <p:nvPr>
            <p:ph type="title"/>
          </p:nvPr>
        </p:nvSpPr>
        <p:spPr>
          <a:xfrm>
            <a:off x="685802" y="609600"/>
            <a:ext cx="4117158" cy="1007723"/>
          </a:xfrm>
        </p:spPr>
        <p:txBody>
          <a:bodyPr/>
          <a:lstStyle/>
          <a:p>
            <a:pPr algn="ctr"/>
            <a:r>
              <a:rPr lang="en-US" dirty="0" err="1">
                <a:solidFill>
                  <a:schemeClr val="accent4"/>
                </a:solidFill>
              </a:rPr>
              <a:t>Ir</a:t>
            </a:r>
            <a:r>
              <a:rPr lang="en-US" dirty="0">
                <a:solidFill>
                  <a:schemeClr val="accent4"/>
                </a:solidFill>
              </a:rPr>
              <a:t> sensor</a:t>
            </a:r>
            <a:r>
              <a:rPr lang="en-US" dirty="0"/>
              <a:t> </a:t>
            </a:r>
          </a:p>
        </p:txBody>
      </p:sp>
      <p:pic>
        <p:nvPicPr>
          <p:cNvPr id="5" name="Picture 5">
            <a:extLst>
              <a:ext uri="{FF2B5EF4-FFF2-40B4-BE49-F238E27FC236}">
                <a16:creationId xmlns:a16="http://schemas.microsoft.com/office/drawing/2014/main" xmlns="" id="{9994F010-30CA-93F2-D8CD-B90669B1A4F4}"/>
              </a:ext>
            </a:extLst>
          </p:cNvPr>
          <p:cNvPicPr>
            <a:picLocks noGrp="1" noChangeAspect="1"/>
          </p:cNvPicPr>
          <p:nvPr>
            <p:ph sz="half" idx="1"/>
          </p:nvPr>
        </p:nvPicPr>
        <p:blipFill>
          <a:blip r:embed="rId2"/>
          <a:stretch>
            <a:fillRect/>
          </a:stretch>
        </p:blipFill>
        <p:spPr>
          <a:xfrm>
            <a:off x="440751" y="1751754"/>
            <a:ext cx="4995863" cy="4039446"/>
          </a:xfrm>
        </p:spPr>
      </p:pic>
      <p:sp>
        <p:nvSpPr>
          <p:cNvPr id="4" name="Content Placeholder 3">
            <a:extLst>
              <a:ext uri="{FF2B5EF4-FFF2-40B4-BE49-F238E27FC236}">
                <a16:creationId xmlns:a16="http://schemas.microsoft.com/office/drawing/2014/main" xmlns="" id="{4BB68EF7-9597-7DF7-88EC-C09CAB567CD5}"/>
              </a:ext>
            </a:extLst>
          </p:cNvPr>
          <p:cNvSpPr>
            <a:spLocks noGrp="1"/>
          </p:cNvSpPr>
          <p:nvPr>
            <p:ph sz="half" idx="2"/>
          </p:nvPr>
        </p:nvSpPr>
        <p:spPr>
          <a:xfrm>
            <a:off x="5697388" y="1022860"/>
            <a:ext cx="4995332" cy="5176877"/>
          </a:xfrm>
        </p:spPr>
        <p:txBody>
          <a:bodyPr anchor="t">
            <a:normAutofit/>
          </a:bodyPr>
          <a:lstStyle/>
          <a:p>
            <a:pPr marL="0" indent="0" algn="ctr">
              <a:buNone/>
            </a:pPr>
            <a:r>
              <a:rPr lang="en-US" dirty="0">
                <a:solidFill>
                  <a:srgbClr val="FF0000"/>
                </a:solidFill>
              </a:rPr>
              <a:t>DESCRIPTION</a:t>
            </a:r>
          </a:p>
          <a:p>
            <a:r>
              <a:rPr lang="en-US" dirty="0"/>
              <a:t>An infrared proximity sensor or IR Sensor is an electronic device that emits infrared lights to sense some aspect of the surroundings and can be employed to detect the motion of an object. </a:t>
            </a:r>
          </a:p>
          <a:p>
            <a:r>
              <a:rPr lang="en-US" dirty="0"/>
              <a:t>The working of the IR sensor module is very simple, it consists of two main components: the first is the IR transmitter section and the second is the IR receiver section. In the transmitter section, IR led is used and in the receiver section, a photodiode is used to receive infrared signal and after some signal processing and conditioning, you will get the output.</a:t>
            </a:r>
          </a:p>
        </p:txBody>
      </p:sp>
    </p:spTree>
    <p:extLst>
      <p:ext uri="{BB962C8B-B14F-4D97-AF65-F5344CB8AC3E}">
        <p14:creationId xmlns:p14="http://schemas.microsoft.com/office/powerpoint/2010/main" xmlns="" val="3726845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1D77D5-DDD4-23A1-5125-E855B1405E47}"/>
              </a:ext>
            </a:extLst>
          </p:cNvPr>
          <p:cNvSpPr>
            <a:spLocks noGrp="1"/>
          </p:cNvSpPr>
          <p:nvPr>
            <p:ph type="title"/>
          </p:nvPr>
        </p:nvSpPr>
        <p:spPr>
          <a:xfrm>
            <a:off x="1381092" y="0"/>
            <a:ext cx="6357982" cy="857256"/>
          </a:xfrm>
        </p:spPr>
        <p:txBody>
          <a:bodyPr/>
          <a:lstStyle/>
          <a:p>
            <a:pPr algn="ctr"/>
            <a:r>
              <a:rPr lang="en-US" dirty="0" smtClean="0">
                <a:solidFill>
                  <a:srgbClr val="FFFF00"/>
                </a:solidFill>
              </a:rPr>
              <a:t>advantages</a:t>
            </a:r>
            <a:endParaRPr lang="en-US" dirty="0">
              <a:solidFill>
                <a:srgbClr val="FFFF00"/>
              </a:solidFill>
            </a:endParaRPr>
          </a:p>
        </p:txBody>
      </p:sp>
      <p:sp>
        <p:nvSpPr>
          <p:cNvPr id="5" name="Rectangle 4"/>
          <p:cNvSpPr/>
          <p:nvPr/>
        </p:nvSpPr>
        <p:spPr>
          <a:xfrm>
            <a:off x="952464" y="928670"/>
            <a:ext cx="10287072" cy="7201972"/>
          </a:xfrm>
          <a:prstGeom prst="rect">
            <a:avLst/>
          </a:prstGeom>
        </p:spPr>
        <p:txBody>
          <a:bodyPr wrap="square">
            <a:spAutoFit/>
          </a:bodyPr>
          <a:lstStyle/>
          <a:p>
            <a:r>
              <a:rPr lang="en-US" sz="2600" dirty="0" smtClean="0"/>
              <a:t>There are several advantages to having a home surveillance robot, which can provide enhanced security and peace of mind for home owners. Some of the key advantages include:</a:t>
            </a:r>
          </a:p>
          <a:p>
            <a:pPr>
              <a:buClr>
                <a:srgbClr val="00B050"/>
              </a:buClr>
              <a:buFont typeface="Wingdings" pitchFamily="2" charset="2"/>
              <a:buChar char="Ø"/>
            </a:pPr>
            <a:r>
              <a:rPr lang="en-US" sz="2400" b="1" dirty="0" smtClean="0"/>
              <a:t>Remote Monitoring</a:t>
            </a:r>
            <a:endParaRPr lang="en-US" sz="2400" dirty="0" smtClean="0"/>
          </a:p>
          <a:p>
            <a:pPr>
              <a:buClr>
                <a:srgbClr val="00B050"/>
              </a:buClr>
              <a:buFont typeface="Wingdings" pitchFamily="2" charset="2"/>
              <a:buChar char="Ø"/>
            </a:pPr>
            <a:r>
              <a:rPr lang="en-US" sz="2400" b="1" dirty="0" smtClean="0"/>
              <a:t>Enhanced </a:t>
            </a:r>
            <a:r>
              <a:rPr lang="en-US" sz="2400" b="1" dirty="0" smtClean="0"/>
              <a:t>Security</a:t>
            </a:r>
            <a:endParaRPr lang="en-US" sz="2400" dirty="0" smtClean="0"/>
          </a:p>
          <a:p>
            <a:pPr>
              <a:buClr>
                <a:srgbClr val="00B050"/>
              </a:buClr>
              <a:buFont typeface="Wingdings" pitchFamily="2" charset="2"/>
              <a:buChar char="Ø"/>
            </a:pPr>
            <a:r>
              <a:rPr lang="en-US" sz="2400" b="1" dirty="0" smtClean="0"/>
              <a:t>Deterrence</a:t>
            </a:r>
            <a:endParaRPr lang="en-US" sz="2400" dirty="0" smtClean="0"/>
          </a:p>
          <a:p>
            <a:pPr>
              <a:buClr>
                <a:srgbClr val="00B050"/>
              </a:buClr>
              <a:buFont typeface="Wingdings" pitchFamily="2" charset="2"/>
              <a:buChar char="Ø"/>
            </a:pPr>
            <a:r>
              <a:rPr lang="en-US" sz="2400" b="1" dirty="0" smtClean="0"/>
              <a:t>Mobility and </a:t>
            </a:r>
            <a:r>
              <a:rPr lang="en-US" sz="2400" b="1" dirty="0" smtClean="0"/>
              <a:t>Flexibility</a:t>
            </a:r>
          </a:p>
          <a:p>
            <a:pPr>
              <a:buClr>
                <a:srgbClr val="00B050"/>
              </a:buClr>
              <a:buFont typeface="Wingdings" pitchFamily="2" charset="2"/>
              <a:buChar char="Ø"/>
            </a:pPr>
            <a:r>
              <a:rPr lang="en-US" sz="2400" b="1" dirty="0" smtClean="0"/>
              <a:t>Interactivity and </a:t>
            </a:r>
            <a:r>
              <a:rPr lang="en-US" sz="2400" b="1" dirty="0" smtClean="0"/>
              <a:t>Communication                     </a:t>
            </a:r>
          </a:p>
          <a:p>
            <a:pPr>
              <a:buClr>
                <a:srgbClr val="00B050"/>
              </a:buClr>
              <a:buFont typeface="Wingdings" pitchFamily="2" charset="2"/>
              <a:buChar char="Ø"/>
            </a:pPr>
            <a:r>
              <a:rPr lang="en-US" sz="2400" b="1" dirty="0" smtClean="0"/>
              <a:t>Convenience and </a:t>
            </a:r>
            <a:r>
              <a:rPr lang="en-US" sz="2400" b="1" dirty="0" smtClean="0"/>
              <a:t>Time-saving</a:t>
            </a:r>
          </a:p>
          <a:p>
            <a:pPr>
              <a:buClr>
                <a:srgbClr val="00B050"/>
              </a:buClr>
              <a:buFont typeface="Wingdings" pitchFamily="2" charset="2"/>
              <a:buChar char="Ø"/>
            </a:pPr>
            <a:r>
              <a:rPr lang="en-US" sz="2400" b="1" dirty="0" smtClean="0"/>
              <a:t>Integration with Smart Home </a:t>
            </a:r>
            <a:r>
              <a:rPr lang="en-US" sz="2400" b="1" dirty="0" smtClean="0"/>
              <a:t>Systems</a:t>
            </a:r>
          </a:p>
          <a:p>
            <a:pPr>
              <a:buClr>
                <a:srgbClr val="00B050"/>
              </a:buClr>
              <a:buFont typeface="Wingdings" pitchFamily="2" charset="2"/>
              <a:buChar char="Ø"/>
            </a:pPr>
            <a:r>
              <a:rPr lang="en-US" sz="2400" b="1" dirty="0" smtClean="0"/>
              <a:t>Peace of </a:t>
            </a:r>
            <a:r>
              <a:rPr lang="en-US" sz="2400" b="1" dirty="0" smtClean="0"/>
              <a:t>Mind</a:t>
            </a:r>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 </a:t>
            </a:r>
            <a:endParaRPr lang="en-US" sz="2400" dirty="0"/>
          </a:p>
        </p:txBody>
      </p:sp>
      <p:pic>
        <p:nvPicPr>
          <p:cNvPr id="6" name="Picture 5" descr="WhatsApp Image 2023-06-21 at 10.42.09 AM.jpeg"/>
          <p:cNvPicPr>
            <a:picLocks noChangeAspect="1"/>
          </p:cNvPicPr>
          <p:nvPr/>
        </p:nvPicPr>
        <p:blipFill>
          <a:blip r:embed="rId2"/>
          <a:stretch>
            <a:fillRect/>
          </a:stretch>
        </p:blipFill>
        <p:spPr>
          <a:xfrm>
            <a:off x="6596066" y="2071678"/>
            <a:ext cx="5143536" cy="3857652"/>
          </a:xfrm>
          <a:prstGeom prst="rect">
            <a:avLst/>
          </a:prstGeom>
        </p:spPr>
      </p:pic>
    </p:spTree>
    <p:extLst>
      <p:ext uri="{BB962C8B-B14F-4D97-AF65-F5344CB8AC3E}">
        <p14:creationId xmlns:p14="http://schemas.microsoft.com/office/powerpoint/2010/main" xmlns="" val="3522563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2662" y="214290"/>
            <a:ext cx="6572296" cy="962011"/>
          </a:xfrm>
        </p:spPr>
        <p:txBody>
          <a:bodyPr>
            <a:normAutofit/>
          </a:bodyPr>
          <a:lstStyle/>
          <a:p>
            <a:pPr algn="ctr"/>
            <a:r>
              <a:rPr lang="en-US" dirty="0" smtClean="0"/>
              <a:t>applications</a:t>
            </a:r>
            <a:endParaRPr lang="en-US" dirty="0"/>
          </a:p>
        </p:txBody>
      </p:sp>
      <p:sp>
        <p:nvSpPr>
          <p:cNvPr id="5" name="Rectangle 4"/>
          <p:cNvSpPr/>
          <p:nvPr/>
        </p:nvSpPr>
        <p:spPr>
          <a:xfrm>
            <a:off x="881026" y="1000108"/>
            <a:ext cx="10429948" cy="5293757"/>
          </a:xfrm>
          <a:prstGeom prst="rect">
            <a:avLst/>
          </a:prstGeom>
        </p:spPr>
        <p:txBody>
          <a:bodyPr wrap="square">
            <a:spAutoFit/>
          </a:bodyPr>
          <a:lstStyle/>
          <a:p>
            <a:r>
              <a:rPr lang="en-US" sz="2650" dirty="0" smtClean="0"/>
              <a:t>Home surveillance robots can have various applications in enhancing home security </a:t>
            </a:r>
            <a:r>
              <a:rPr lang="en-US" sz="2650" dirty="0" smtClean="0"/>
              <a:t>and providing convenient monitoring solutions. Some of the key applications of home surveillance robots </a:t>
            </a:r>
            <a:r>
              <a:rPr lang="en-US" sz="2650" dirty="0" smtClean="0"/>
              <a:t>include</a:t>
            </a:r>
            <a:r>
              <a:rPr lang="en-US" sz="2650" dirty="0" smtClean="0"/>
              <a:t>:</a:t>
            </a:r>
          </a:p>
          <a:p>
            <a:endParaRPr lang="en-US" sz="2650" dirty="0" smtClean="0"/>
          </a:p>
          <a:p>
            <a:pPr>
              <a:buClr>
                <a:schemeClr val="accent4"/>
              </a:buClr>
              <a:buFont typeface="Wingdings" pitchFamily="2" charset="2"/>
              <a:buChar char="Ø"/>
            </a:pPr>
            <a:r>
              <a:rPr lang="en-US" sz="2400" b="1" dirty="0" smtClean="0"/>
              <a:t>Intrusion Detection</a:t>
            </a:r>
          </a:p>
          <a:p>
            <a:pPr>
              <a:buClr>
                <a:schemeClr val="accent4"/>
              </a:buClr>
              <a:buFont typeface="Wingdings" pitchFamily="2" charset="2"/>
              <a:buChar char="Ø"/>
            </a:pPr>
            <a:r>
              <a:rPr lang="en-US" sz="2400" b="1" dirty="0" smtClean="0"/>
              <a:t>Video Surveillance: </a:t>
            </a:r>
            <a:endParaRPr lang="en-US" sz="2400" b="1" dirty="0" smtClean="0"/>
          </a:p>
          <a:p>
            <a:pPr>
              <a:buClr>
                <a:schemeClr val="accent4"/>
              </a:buClr>
              <a:buFont typeface="Wingdings" pitchFamily="2" charset="2"/>
              <a:buChar char="Ø"/>
            </a:pPr>
            <a:r>
              <a:rPr lang="en-US" sz="2400" b="1" dirty="0" smtClean="0"/>
              <a:t>Remote Monitoring: </a:t>
            </a:r>
            <a:endParaRPr lang="en-US" sz="2400" b="1" dirty="0" smtClean="0"/>
          </a:p>
          <a:p>
            <a:pPr>
              <a:buClr>
                <a:schemeClr val="accent4"/>
              </a:buClr>
              <a:buFont typeface="Wingdings" pitchFamily="2" charset="2"/>
              <a:buChar char="Ø"/>
            </a:pPr>
            <a:r>
              <a:rPr lang="en-US" sz="2400" b="1" dirty="0" smtClean="0"/>
              <a:t>Emergency Response</a:t>
            </a:r>
            <a:endParaRPr lang="en-US" sz="2400" dirty="0" smtClean="0"/>
          </a:p>
          <a:p>
            <a:pPr>
              <a:buClr>
                <a:schemeClr val="accent4"/>
              </a:buClr>
              <a:buFont typeface="Wingdings" pitchFamily="2" charset="2"/>
              <a:buChar char="Ø"/>
            </a:pPr>
            <a:r>
              <a:rPr lang="en-US" sz="2400" b="1" dirty="0" smtClean="0"/>
              <a:t>Interaction and Communication: </a:t>
            </a:r>
            <a:endParaRPr lang="en-US" sz="2400" b="1" dirty="0" smtClean="0"/>
          </a:p>
          <a:p>
            <a:pPr>
              <a:buClr>
                <a:schemeClr val="accent4"/>
              </a:buClr>
              <a:buFont typeface="Wingdings" pitchFamily="2" charset="2"/>
              <a:buChar char="Ø"/>
            </a:pPr>
            <a:r>
              <a:rPr lang="en-US" sz="2400" b="1" dirty="0" smtClean="0"/>
              <a:t>Automation and Integration: </a:t>
            </a:r>
            <a:endParaRPr lang="en-US" sz="2400" b="1" dirty="0" smtClean="0"/>
          </a:p>
          <a:p>
            <a:pPr>
              <a:buClr>
                <a:schemeClr val="accent4"/>
              </a:buClr>
              <a:buFont typeface="Wingdings" pitchFamily="2" charset="2"/>
              <a:buChar char="Ø"/>
            </a:pPr>
            <a:r>
              <a:rPr lang="en-US" sz="2400" b="1" dirty="0" smtClean="0"/>
              <a:t>Pet Monitoring:</a:t>
            </a:r>
          </a:p>
          <a:p>
            <a:pPr>
              <a:buClr>
                <a:schemeClr val="accent4"/>
              </a:buClr>
              <a:buFont typeface="Wingdings" pitchFamily="2" charset="2"/>
              <a:buChar char="Ø"/>
            </a:pPr>
            <a:r>
              <a:rPr lang="en-US" sz="2400" b="1" dirty="0" smtClean="0"/>
              <a:t>Elderly Care: </a:t>
            </a:r>
            <a:endParaRPr lang="en-US" sz="2400" dirty="0" smtClean="0"/>
          </a:p>
          <a:p>
            <a:endParaRPr lang="en-US" sz="2000" dirty="0" smtClean="0"/>
          </a:p>
          <a:p>
            <a:endParaRPr lang="en-US" sz="2000" dirty="0"/>
          </a:p>
        </p:txBody>
      </p:sp>
      <p:pic>
        <p:nvPicPr>
          <p:cNvPr id="6" name="Picture 5" descr="WhatsApp Image 2023-06-23 at 11.38.51 AM.jpeg"/>
          <p:cNvPicPr>
            <a:picLocks noChangeAspect="1"/>
          </p:cNvPicPr>
          <p:nvPr/>
        </p:nvPicPr>
        <p:blipFill>
          <a:blip r:embed="rId2"/>
          <a:stretch>
            <a:fillRect/>
          </a:stretch>
        </p:blipFill>
        <p:spPr>
          <a:xfrm>
            <a:off x="5697026" y="2428868"/>
            <a:ext cx="6114014" cy="3857652"/>
          </a:xfrm>
          <a:prstGeom prst="rect">
            <a:avLst/>
          </a:prstGeom>
          <a:ln>
            <a:noFill/>
          </a:ln>
          <a:effectLst>
            <a:softEdge rad="112500"/>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158" y="642918"/>
            <a:ext cx="7267587" cy="1104888"/>
          </a:xfrm>
        </p:spPr>
        <p:txBody>
          <a:bodyPr/>
          <a:lstStyle/>
          <a:p>
            <a:pPr algn="ctr"/>
            <a:r>
              <a:rPr lang="en-US" dirty="0" smtClean="0">
                <a:solidFill>
                  <a:srgbClr val="FFFF00"/>
                </a:solidFill>
              </a:rPr>
              <a:t>Result and conclusion </a:t>
            </a:r>
            <a:endParaRPr lang="en-US" dirty="0">
              <a:solidFill>
                <a:srgbClr val="FFFF00"/>
              </a:solidFill>
            </a:endParaRPr>
          </a:p>
        </p:txBody>
      </p:sp>
      <p:sp>
        <p:nvSpPr>
          <p:cNvPr id="3" name="Rectangle 2"/>
          <p:cNvSpPr/>
          <p:nvPr/>
        </p:nvSpPr>
        <p:spPr>
          <a:xfrm>
            <a:off x="1452530" y="1928802"/>
            <a:ext cx="9072626" cy="4154984"/>
          </a:xfrm>
          <a:prstGeom prst="rect">
            <a:avLst/>
          </a:prstGeom>
        </p:spPr>
        <p:txBody>
          <a:bodyPr wrap="square">
            <a:spAutoFit/>
          </a:bodyPr>
          <a:lstStyle/>
          <a:p>
            <a:pPr>
              <a:buClr>
                <a:srgbClr val="00B050"/>
              </a:buClr>
              <a:buFont typeface="Wingdings" pitchFamily="2" charset="2"/>
              <a:buChar char="Ø"/>
            </a:pPr>
            <a:r>
              <a:rPr lang="en-US" sz="2400" dirty="0" smtClean="0"/>
              <a:t>In conclusion, the prototype home surveillance robot project has the potential to provide significant advantages in terms of home security, convenience, and peace of mind. </a:t>
            </a:r>
          </a:p>
          <a:p>
            <a:pPr>
              <a:buClr>
                <a:srgbClr val="00B050"/>
              </a:buClr>
            </a:pPr>
            <a:endParaRPr lang="en-US" sz="2400" dirty="0" smtClean="0"/>
          </a:p>
          <a:p>
            <a:pPr>
              <a:buClr>
                <a:srgbClr val="00B050"/>
              </a:buClr>
              <a:buFont typeface="Wingdings" pitchFamily="2" charset="2"/>
              <a:buChar char="Ø"/>
            </a:pPr>
            <a:r>
              <a:rPr lang="en-US" sz="2400" dirty="0" smtClean="0"/>
              <a:t>Through </a:t>
            </a:r>
            <a:r>
              <a:rPr lang="en-US" sz="2400" dirty="0" smtClean="0"/>
              <a:t>the development and testing of a working </a:t>
            </a:r>
            <a:r>
              <a:rPr lang="en-US" sz="2400" dirty="0" smtClean="0"/>
              <a:t>proto type, the project has demonstrated the feasibility </a:t>
            </a:r>
            <a:r>
              <a:rPr lang="en-US" sz="2400" dirty="0" smtClean="0"/>
              <a:t>and functionality of a home surveillance robot that can perform tasks such </a:t>
            </a:r>
            <a:r>
              <a:rPr lang="en-US" sz="2400" dirty="0" smtClean="0"/>
              <a:t>as remote monitoring, video  surveillance, intrusion detection, and automation features</a:t>
            </a:r>
            <a:r>
              <a:rPr lang="en-US" sz="2400" dirty="0" smtClean="0"/>
              <a:t>.</a:t>
            </a:r>
          </a:p>
          <a:p>
            <a:pPr>
              <a:buClr>
                <a:srgbClr val="00B050"/>
              </a:buClr>
              <a:buFont typeface="Wingdings" pitchFamily="2" charset="2"/>
              <a:buChar char="Ø"/>
            </a:pPr>
            <a:endParaRPr lang="en-US" sz="2400" dirty="0" smtClean="0"/>
          </a:p>
          <a:p>
            <a:pPr>
              <a:buClr>
                <a:srgbClr val="00B050"/>
              </a:buClr>
              <a:buFont typeface="Wingdings" pitchFamily="2" charset="2"/>
              <a:buChar char="Ø"/>
            </a:pPr>
            <a:endParaRPr lang="en-US" sz="2400" dirty="0" smtClean="0"/>
          </a:p>
          <a:p>
            <a:pPr>
              <a:buClr>
                <a:srgbClr val="00B050"/>
              </a:buClr>
              <a:buFont typeface="Wingdings" pitchFamily="2" charset="2"/>
              <a:buChar char="Ø"/>
            </a:pP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3-06-23 at 11.50.43 AM.jpeg"/>
          <p:cNvPicPr>
            <a:picLocks noChangeAspect="1"/>
          </p:cNvPicPr>
          <p:nvPr/>
        </p:nvPicPr>
        <p:blipFill>
          <a:blip r:embed="rId2"/>
          <a:stretch>
            <a:fillRect/>
          </a:stretch>
        </p:blipFill>
        <p:spPr>
          <a:xfrm>
            <a:off x="0" y="-24"/>
            <a:ext cx="12311106" cy="6858024"/>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xmlns=""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1264</Words>
  <Application>Microsoft Office PowerPoint</Application>
  <PresentationFormat>Custom</PresentationFormat>
  <Paragraphs>193</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Celestial</vt:lpstr>
      <vt:lpstr>Slide 1</vt:lpstr>
      <vt:lpstr>Slide 2</vt:lpstr>
      <vt:lpstr>CONTENTS</vt:lpstr>
      <vt:lpstr>Slide 4</vt:lpstr>
      <vt:lpstr>Slide 5</vt:lpstr>
      <vt:lpstr>Slide 6</vt:lpstr>
      <vt:lpstr>Slide 7</vt:lpstr>
      <vt:lpstr>Slide 8</vt:lpstr>
      <vt:lpstr>Slide 9</vt:lpstr>
      <vt:lpstr>Slide 10</vt:lpstr>
      <vt:lpstr>Slide 11</vt:lpstr>
      <vt:lpstr>Slide 12</vt:lpstr>
      <vt:lpstr>Slide 13</vt:lpstr>
      <vt:lpstr>DC Gear Motor</vt:lpstr>
      <vt:lpstr> 
 L293D Motor Driver</vt:lpstr>
      <vt:lpstr>Mq3 Gas Sensor</vt:lpstr>
      <vt:lpstr>HC-Sr04 Ultrasonic sensor </vt:lpstr>
      <vt:lpstr>HC-SR501 Passive Infrared (PIR) Motion Sensor</vt:lpstr>
      <vt:lpstr>HC-05 Bluetooth Module</vt:lpstr>
      <vt:lpstr>Ir sensor </vt:lpstr>
      <vt:lpstr>advantages</vt:lpstr>
      <vt:lpstr>applications</vt:lpstr>
      <vt:lpstr>Result and conclusion </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918971705988</dc:creator>
  <cp:lastModifiedBy>USER</cp:lastModifiedBy>
  <cp:revision>19</cp:revision>
  <dcterms:created xsi:type="dcterms:W3CDTF">2023-06-23T00:15:56Z</dcterms:created>
  <dcterms:modified xsi:type="dcterms:W3CDTF">2023-06-23T06:25:00Z</dcterms:modified>
</cp:coreProperties>
</file>